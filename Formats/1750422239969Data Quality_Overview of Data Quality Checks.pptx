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616" r:id="rId2"/>
    <p:sldId id="617" r:id="rId3"/>
    <p:sldId id="618" r:id="rId4"/>
    <p:sldId id="619" r:id="rId5"/>
    <p:sldId id="620" r:id="rId6"/>
    <p:sldId id="621" r:id="rId7"/>
    <p:sldId id="622" r:id="rId8"/>
    <p:sldId id="623" r:id="rId9"/>
    <p:sldId id="624" r:id="rId10"/>
    <p:sldId id="625" r:id="rId11"/>
    <p:sldId id="626" r:id="rId12"/>
    <p:sldId id="627" r:id="rId13"/>
    <p:sldId id="628" r:id="rId14"/>
    <p:sldId id="629" r:id="rId15"/>
    <p:sldId id="6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64F10-7D85-4C3B-A5F5-D4A6BFCCB0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34D45-DFBA-416B-9C94-984635EFA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9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3BA3B7B6-42BC-4E27-B08B-114CA8DECD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8F7358F-072E-43C7-842E-69927D35AC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B20BF48D-273B-4CC8-8020-78722ABB4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7A05AC-C757-4E4F-B838-5C8CE67B346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5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Documents and Settings\modig\Desktop\EHNRI pictures March 2012\IMG_0988.jpg">
            <a:extLst>
              <a:ext uri="{FF2B5EF4-FFF2-40B4-BE49-F238E27FC236}">
                <a16:creationId xmlns:a16="http://schemas.microsoft.com/office/drawing/2014/main" id="{77C77A3D-C82E-490E-BD5A-A4338FC39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10780"/>
          <a:stretch>
            <a:fillRect/>
          </a:stretch>
        </p:blipFill>
        <p:spPr bwMode="auto">
          <a:xfrm>
            <a:off x="1930400" y="1635826"/>
            <a:ext cx="7721600" cy="3393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ubtitle 8">
            <a:extLst>
              <a:ext uri="{FF2B5EF4-FFF2-40B4-BE49-F238E27FC236}">
                <a16:creationId xmlns:a16="http://schemas.microsoft.com/office/drawing/2014/main" id="{7D908DDF-C91F-4E72-9AF9-142613EAFD8E}"/>
              </a:ext>
            </a:extLst>
          </p:cNvPr>
          <p:cNvSpPr>
            <a:spLocks noGrp="1"/>
          </p:cNvSpPr>
          <p:nvPr/>
        </p:nvSpPr>
        <p:spPr>
          <a:xfrm>
            <a:off x="4775200" y="2590800"/>
            <a:ext cx="2133600" cy="3048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900" b="1" dirty="0">
                <a:ln w="1270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Ethiopian Public Health Institute</a:t>
            </a: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A7BBEBB5-FC6E-4409-A292-7299FBCB372A}"/>
              </a:ext>
            </a:extLst>
          </p:cNvPr>
          <p:cNvGrpSpPr>
            <a:grpSpLocks/>
          </p:cNvGrpSpPr>
          <p:nvPr/>
        </p:nvGrpSpPr>
        <p:grpSpPr bwMode="auto">
          <a:xfrm>
            <a:off x="5384800" y="990600"/>
            <a:ext cx="1524000" cy="1143000"/>
            <a:chOff x="107718225" y="107346750"/>
            <a:chExt cx="2705100" cy="343090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598B1EE-6E46-45FA-B778-430705B580F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7718225" y="107346750"/>
              <a:ext cx="2705100" cy="3430905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pic>
          <p:nvPicPr>
            <p:cNvPr id="8" name="Picture 10" descr="EHNRI Logo Final 1">
              <a:extLst>
                <a:ext uri="{FF2B5EF4-FFF2-40B4-BE49-F238E27FC236}">
                  <a16:creationId xmlns:a16="http://schemas.microsoft.com/office/drawing/2014/main" id="{A105A433-1EDC-4A5E-9CEE-548BF1AD765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lum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19356" y="108069044"/>
              <a:ext cx="1562949" cy="2235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WordArt 5">
              <a:extLst>
                <a:ext uri="{FF2B5EF4-FFF2-40B4-BE49-F238E27FC236}">
                  <a16:creationId xmlns:a16="http://schemas.microsoft.com/office/drawing/2014/main" id="{E8468171-0AD8-4BA4-B554-000F39653483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107921425" y="108083350"/>
              <a:ext cx="2287270" cy="2400300"/>
            </a:xfrm>
            <a:prstGeom prst="rect">
              <a:avLst/>
            </a:prstGeom>
          </p:spPr>
          <p:txBody>
            <a:bodyPr spcFirstLastPara="1" wrap="none" fromWordArt="1">
              <a:prstTxWarp prst="textArchDown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sz="1800" b="1" kern="10">
                  <a:ln w="9525" algn="ctr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Ethiopian Public Health Institute </a:t>
              </a:r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701BF3B9-F11D-4656-AB2D-03E34F56BE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7868508" y="108871597"/>
              <a:ext cx="105198" cy="104833"/>
            </a:xfrm>
            <a:prstGeom prst="star5">
              <a:avLst/>
            </a:prstGeom>
            <a:solidFill>
              <a:srgbClr val="0000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F61223C2-07C1-43B3-BC40-80CA5F84773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160329" y="108871597"/>
              <a:ext cx="105198" cy="104833"/>
            </a:xfrm>
            <a:prstGeom prst="star5">
              <a:avLst/>
            </a:prstGeom>
            <a:solidFill>
              <a:srgbClr val="0000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2" name="WordArt 8">
              <a:extLst>
                <a:ext uri="{FF2B5EF4-FFF2-40B4-BE49-F238E27FC236}">
                  <a16:creationId xmlns:a16="http://schemas.microsoft.com/office/drawing/2014/main" id="{4A46C48E-CB3D-4C02-B39F-3A3DD7CD8677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107978575" y="107588050"/>
              <a:ext cx="2171700" cy="2241550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4"/>
                </a:avLst>
              </a:prstTxWarp>
            </a:bodyPr>
            <a:lstStyle/>
            <a:p>
              <a:pPr algn="ctr"/>
              <a:r>
                <a:rPr lang="am-ET" sz="1800" kern="10">
                  <a:ln w="9525" algn="ctr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+mn-lt"/>
                  <a:ea typeface="+mn-lt"/>
                  <a:cs typeface="+mn-lt"/>
                </a:rPr>
                <a:t>የኢትዮጵያ የሕብረተሰብ ጤና ኢንስቲትዩት</a:t>
              </a:r>
              <a:endParaRPr lang="en-US" sz="1800" kern="10"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+mn-lt"/>
                <a:ea typeface="+mn-lt"/>
                <a:cs typeface="+mn-lt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3732" y="5334000"/>
            <a:ext cx="76200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735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CC9ED23-7E87-4B1F-94ED-C23C0304F047}"/>
              </a:ext>
            </a:extLst>
          </p:cNvPr>
          <p:cNvSpPr txBox="1">
            <a:spLocks/>
          </p:cNvSpPr>
          <p:nvPr/>
        </p:nvSpPr>
        <p:spPr>
          <a:xfrm rot="5400000">
            <a:off x="5753100" y="419100"/>
            <a:ext cx="685800" cy="12192000"/>
          </a:xfrm>
          <a:prstGeom prst="rect">
            <a:avLst/>
          </a:prstGeom>
          <a:solidFill>
            <a:srgbClr val="00B0F0"/>
          </a:solidFill>
          <a:ln>
            <a:solidFill>
              <a:srgbClr val="5887C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63500" dist="50800" dir="18900000">
              <a:prstClr val="black">
                <a:alpha val="50000"/>
              </a:prstClr>
            </a:innerShdw>
            <a:softEdge rad="12700"/>
          </a:effectLst>
          <a:scene3d>
            <a:camera prst="obliqueBottomLeft"/>
            <a:lightRig rig="threePt" dir="t"/>
          </a:scene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Subtitle 8">
            <a:extLst>
              <a:ext uri="{FF2B5EF4-FFF2-40B4-BE49-F238E27FC236}">
                <a16:creationId xmlns:a16="http://schemas.microsoft.com/office/drawing/2014/main" id="{3936FF9E-ECE5-423E-A8B4-7F2FA25A14F7}"/>
              </a:ext>
            </a:extLst>
          </p:cNvPr>
          <p:cNvSpPr txBox="1">
            <a:spLocks/>
          </p:cNvSpPr>
          <p:nvPr/>
        </p:nvSpPr>
        <p:spPr>
          <a:xfrm>
            <a:off x="7924800" y="6172200"/>
            <a:ext cx="2946400" cy="685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342900" indent="-342900" algn="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The Ethiopian Public Health  Institute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0E5D46-0089-4C89-B1F1-FAA92EC74BE1}"/>
              </a:ext>
            </a:extLst>
          </p:cNvPr>
          <p:cNvCxnSpPr/>
          <p:nvPr/>
        </p:nvCxnSpPr>
        <p:spPr>
          <a:xfrm>
            <a:off x="622300" y="914400"/>
            <a:ext cx="11074400" cy="158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7" name="Group 2">
            <a:extLst>
              <a:ext uri="{FF2B5EF4-FFF2-40B4-BE49-F238E27FC236}">
                <a16:creationId xmlns:a16="http://schemas.microsoft.com/office/drawing/2014/main" id="{427F6546-9D99-43AB-A182-78D0E4F79ED5}"/>
              </a:ext>
            </a:extLst>
          </p:cNvPr>
          <p:cNvGrpSpPr>
            <a:grpSpLocks/>
          </p:cNvGrpSpPr>
          <p:nvPr/>
        </p:nvGrpSpPr>
        <p:grpSpPr bwMode="auto">
          <a:xfrm>
            <a:off x="10972800" y="6172200"/>
            <a:ext cx="711200" cy="533400"/>
            <a:chOff x="107718225" y="107346750"/>
            <a:chExt cx="2705100" cy="3430905"/>
          </a:xfrm>
        </p:grpSpPr>
        <p:sp>
          <p:nvSpPr>
            <p:cNvPr id="8" name="Oval 3">
              <a:extLst>
                <a:ext uri="{FF2B5EF4-FFF2-40B4-BE49-F238E27FC236}">
                  <a16:creationId xmlns:a16="http://schemas.microsoft.com/office/drawing/2014/main" id="{C8E0279D-41F5-4691-8D60-E163024B8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8225" y="107346750"/>
              <a:ext cx="2705100" cy="3430905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>
                <a:latin typeface="Calibri" panose="020F0502020204030204" pitchFamily="34" charset="0"/>
              </a:endParaRPr>
            </a:p>
          </p:txBody>
        </p:sp>
        <p:pic>
          <p:nvPicPr>
            <p:cNvPr id="9" name="Picture 4" descr="EHNRI Logo Final 1">
              <a:extLst>
                <a:ext uri="{FF2B5EF4-FFF2-40B4-BE49-F238E27FC236}">
                  <a16:creationId xmlns:a16="http://schemas.microsoft.com/office/drawing/2014/main" id="{6C984292-5AC9-4FA8-8162-F1BE49262A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19356" y="108069044"/>
              <a:ext cx="1562949" cy="2235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WordArt 5">
              <a:extLst>
                <a:ext uri="{FF2B5EF4-FFF2-40B4-BE49-F238E27FC236}">
                  <a16:creationId xmlns:a16="http://schemas.microsoft.com/office/drawing/2014/main" id="{E46ED308-9842-4011-90A6-B6BEA074F03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07921425" y="108083350"/>
              <a:ext cx="2287270" cy="2400300"/>
            </a:xfrm>
            <a:prstGeom prst="rect">
              <a:avLst/>
            </a:prstGeom>
          </p:spPr>
          <p:txBody>
            <a:bodyPr spcFirstLastPara="1" wrap="none" fromWordArt="1">
              <a:prstTxWarp prst="textArchDown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sz="1800" b="1" kern="10">
                  <a:ln w="9525" algn="ctr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Ethiopian Public Health Institute </a:t>
              </a:r>
            </a:p>
          </p:txBody>
        </p:sp>
        <p:sp>
          <p:nvSpPr>
            <p:cNvPr id="11" name="AutoShape 6">
              <a:extLst>
                <a:ext uri="{FF2B5EF4-FFF2-40B4-BE49-F238E27FC236}">
                  <a16:creationId xmlns:a16="http://schemas.microsoft.com/office/drawing/2014/main" id="{75036A6C-D18A-4F9F-94E0-6EDC1BBD5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71195" y="108868196"/>
              <a:ext cx="104659" cy="102110"/>
            </a:xfrm>
            <a:prstGeom prst="star5">
              <a:avLst/>
            </a:prstGeom>
            <a:solidFill>
              <a:srgbClr val="0000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</a:endParaRPr>
            </a:p>
          </p:txBody>
        </p:sp>
        <p:sp>
          <p:nvSpPr>
            <p:cNvPr id="12" name="AutoShape 7">
              <a:extLst>
                <a:ext uri="{FF2B5EF4-FFF2-40B4-BE49-F238E27FC236}">
                  <a16:creationId xmlns:a16="http://schemas.microsoft.com/office/drawing/2014/main" id="{D92CBA27-E689-43FF-A939-BCA6B6AD5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57648" y="108868196"/>
              <a:ext cx="112713" cy="102110"/>
            </a:xfrm>
            <a:prstGeom prst="star5">
              <a:avLst/>
            </a:prstGeom>
            <a:solidFill>
              <a:srgbClr val="0000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</a:endParaRPr>
            </a:p>
          </p:txBody>
        </p:sp>
        <p:sp>
          <p:nvSpPr>
            <p:cNvPr id="13" name="WordArt 8">
              <a:extLst>
                <a:ext uri="{FF2B5EF4-FFF2-40B4-BE49-F238E27FC236}">
                  <a16:creationId xmlns:a16="http://schemas.microsoft.com/office/drawing/2014/main" id="{42294FB2-6C9E-49AE-AB64-814DEDEF3AF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07978577" y="107588052"/>
              <a:ext cx="2171702" cy="2241550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4"/>
                </a:avLst>
              </a:prstTxWarp>
            </a:bodyPr>
            <a:lstStyle/>
            <a:p>
              <a:pPr algn="ctr"/>
              <a:r>
                <a:rPr lang="am-ET" sz="1800" kern="10">
                  <a:ln w="9525" algn="ctr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+mn-lt"/>
                  <a:ea typeface="+mn-lt"/>
                  <a:cs typeface="+mn-lt"/>
                </a:rPr>
                <a:t>የኢትዮጵያ የሕብረተሰብ ጤና ኢንስቲትዩት</a:t>
              </a:r>
              <a:endParaRPr lang="en-US" sz="1800" kern="10"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+mn-lt"/>
                <a:ea typeface="+mn-lt"/>
                <a:cs typeface="+mn-lt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87362"/>
          </a:xfrm>
        </p:spPr>
        <p:txBody>
          <a:bodyPr/>
          <a:lstStyle>
            <a:lvl1pPr>
              <a:defRPr sz="4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4983163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43A8FB5-B2DC-4B60-A5F3-EEDEC81D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5034C-D74A-4A6F-A520-3FDF77D5BBD3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AE1DC82-7200-4091-AE3C-DBDFA568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CDC784-D1B0-4B78-B511-577A3A49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606EB-ECCA-4F52-8E43-6FEC612ED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82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139F-F88E-4C75-93AD-2F7812A3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4812-A332-47F5-8C6E-FCD99849948F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6717-D95F-4384-9E59-44467F21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47B75-6DC9-406B-B0A7-8A8A8852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A9BCB-F3F7-479A-9068-88F15A5166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34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896CE-2D3A-45A7-BEA0-A07AD518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57C99-AA12-493C-9FC1-A36A53A7806C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19AC83C-38BB-4E02-8C51-1F18D496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59C0AD-3662-4861-A6EE-5A6A9302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2ECAD-E2A9-4AC2-AF38-C909280B6E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01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322A1F-E3FF-440F-8601-B18916D0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38438-6428-49EC-B0A4-1153A85BADDB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1A66E9E-25B2-4C16-9D08-266935E3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2CBEE2-40CE-48A4-8827-87CBC450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667CA-0785-42AE-8C6A-A0176F1C44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365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571636-94A2-45CB-A160-31F7A18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0A397-A08E-4586-B6FC-584683158094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8FF12A1-0754-4FAD-8552-1F637077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7C53FE-93C2-49A3-9F1F-0868CD46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BB750-985E-4381-AB3F-634B7BEC40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30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8873FBD-3B4A-4E08-A5DE-C445D89E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1B87A-9634-4716-97DB-BF20E6FE6F7B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CE05FE-6D4A-4FA2-80E8-754A330B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AEE6AB-2479-45BF-80BA-2EF1DF74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ED144-C00D-4528-97B3-BBB69B851B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54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87CE9F-A87F-45C7-A88A-B0F3DE7AC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49CC5-9082-4DD6-A4D8-317358F02551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1FF162-ACA7-4CCE-B2B0-E327395C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339A0F-1743-4C92-8742-4DD234ED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81883-78F6-4BE9-BD1F-8B80BB45A1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398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BD6D7D-712A-417D-A225-C53D06F9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785F0-B227-427A-A646-7C070C1A94F0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2061AE-F814-41E6-ABE0-77618B4D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76C4AA-8C1B-46CD-92BD-824E011B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0E52-F7F7-4B7C-B543-93E6BC9EC4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036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13A67-27E3-49E6-B05E-63A39C74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F98F5-CCA6-4425-AD7B-0651C09A7499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E861D-1CED-405B-80A8-F6D0C178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11DC2-14E4-4242-9167-AF1BBBBD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1AD4F-BC9F-4F43-A8D6-405D870724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6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2150E-537D-4C72-BD83-B4AFE98D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6C5DB-6CB8-49C1-B490-2BFF844232CE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8D3F9-58BA-4BAF-9973-65823ECD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964B-A941-413D-8CE0-C7ABC7D0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E3CF8-14F1-4E5D-86EB-B212E9A30E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952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60AF328-C1B9-438B-ADA6-76AC6184E15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D8C104A-9FAC-47EE-9D14-EEAD653220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205DD-39E1-4509-93CC-BB1DF2E3F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C5231AE-0026-462A-831A-26E4DF5507AC}" type="datetimeFigureOut">
              <a:rPr lang="en-US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E42B4-A639-4A84-B139-39643374C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F6D7-767E-4032-8974-5EF286057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2A77241-62CB-420B-9F0F-9800C3C082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63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45138FA5-C322-474F-9EC2-23EE3640A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1773" y="292040"/>
            <a:ext cx="10668000" cy="523220"/>
          </a:xfrm>
        </p:spPr>
        <p:txBody>
          <a:bodyPr wrap="square" anchor="ctr">
            <a:spAutoFit/>
          </a:bodyPr>
          <a:lstStyle/>
          <a:p>
            <a:r>
              <a:rPr lang="en-US" altLang="en-US" sz="2800" b="1" dirty="0"/>
              <a:t>Ethiopian Public Health Institute (EPHI)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B47C844-9FDF-4C44-BF23-114C70B8B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723" y="4220267"/>
            <a:ext cx="9183756" cy="191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Validation</a:t>
            </a:r>
            <a:endParaRPr kumimoji="0" lang="en-US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141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69BA-CA35-46A5-ADC7-5741B07E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14EDA-262A-41D2-A70A-F32B25B1A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172635"/>
          </a:xfrm>
        </p:spPr>
        <p:txBody>
          <a:bodyPr/>
          <a:lstStyle/>
          <a:p>
            <a:r>
              <a:rPr lang="en-US" sz="2800" dirty="0"/>
              <a:t>Entry level Validation</a:t>
            </a:r>
          </a:p>
          <a:p>
            <a:pPr lvl="1"/>
            <a:r>
              <a:rPr lang="en-US" sz="2400" dirty="0"/>
              <a:t>Run validation after data entry</a:t>
            </a:r>
          </a:p>
          <a:p>
            <a:pPr lvl="1"/>
            <a:r>
              <a:rPr lang="en-US" sz="2400" dirty="0"/>
              <a:t>Trend analysis for some consecutive periods.</a:t>
            </a:r>
          </a:p>
          <a:p>
            <a:pPr lvl="1"/>
            <a:r>
              <a:rPr lang="en-US" sz="2400" dirty="0"/>
              <a:t>Data type check </a:t>
            </a:r>
          </a:p>
          <a:p>
            <a:r>
              <a:rPr lang="en-US" sz="2800" dirty="0"/>
              <a:t> Rule-based Analysis</a:t>
            </a:r>
          </a:p>
          <a:p>
            <a:pPr lvl="1"/>
            <a:r>
              <a:rPr lang="en" sz="24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Validation Rules Analysis, </a:t>
            </a:r>
          </a:p>
          <a:p>
            <a:pPr lvl="1"/>
            <a:r>
              <a:rPr lang="en" sz="24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Standard Deviation Outliers Analysis, </a:t>
            </a:r>
          </a:p>
          <a:p>
            <a:pPr lvl="1"/>
            <a:r>
              <a:rPr lang="en" sz="24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Min - Max Outliers Analysis </a:t>
            </a:r>
          </a:p>
          <a:p>
            <a:pPr lvl="1"/>
            <a:r>
              <a:rPr lang="en" sz="24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Follow Up Analysis.</a:t>
            </a:r>
          </a:p>
        </p:txBody>
      </p:sp>
    </p:spTree>
    <p:extLst>
      <p:ext uri="{BB962C8B-B14F-4D97-AF65-F5344CB8AC3E}">
        <p14:creationId xmlns:p14="http://schemas.microsoft.com/office/powerpoint/2010/main" val="151432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1808-6956-4724-80A1-B9F9E1B9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956E8-7503-4394-9954-A8D99D3D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01486"/>
            <a:ext cx="11385176" cy="5203371"/>
          </a:xfrm>
          <a:noFill/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j-lt"/>
              </a:rPr>
              <a:t>Data is considered high quality when it meets its intended uses, such as operations, decision-making, planning, and response.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Common Data Quality Problems</a:t>
            </a:r>
            <a:r>
              <a:rPr lang="en-US" sz="2400" dirty="0">
                <a:latin typeface="+mj-lt"/>
              </a:rPr>
              <a:t>: 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Unusual variations, Duplication of values, Typing errors, Missingness, recording number/date as text, Mismatch of Register, Tally Sheet and Report, etc.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+mj-lt"/>
              </a:rPr>
              <a:t>Implications/ risks  of Poor Data Quality</a:t>
            </a:r>
            <a:r>
              <a:rPr lang="en-US" sz="2400" dirty="0">
                <a:latin typeface="+mj-lt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Wrong preparedness and response, incomplete and inconsistent understanding of the situation; Wrong decisions; Poor Planning, Mistrust of data- less use of data, Wastage of Resources,</a:t>
            </a:r>
          </a:p>
        </p:txBody>
      </p:sp>
    </p:spTree>
    <p:extLst>
      <p:ext uri="{BB962C8B-B14F-4D97-AF65-F5344CB8AC3E}">
        <p14:creationId xmlns:p14="http://schemas.microsoft.com/office/powerpoint/2010/main" val="196559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A994-AA68-4210-BF8B-CB7B1AA1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5204B-4C22-43E5-BF1A-BDFDE459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071" y="968189"/>
            <a:ext cx="11564469" cy="5123330"/>
          </a:xfrm>
        </p:spPr>
        <p:txBody>
          <a:bodyPr/>
          <a:lstStyle/>
          <a:p>
            <a:pPr algn="just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 Managing data quality with the dhis2 app and entry stage by running Validation.</a:t>
            </a:r>
          </a:p>
          <a:p>
            <a:pPr lvl="1"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top of handling organizational and capacity problems,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DHIS2 data quality tools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help to control or manage the data quality dimensions:</a:t>
            </a:r>
          </a:p>
          <a:p>
            <a:pPr marL="609585" indent="-507987" algn="just"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Current-Timeliness</a:t>
            </a:r>
            <a:r>
              <a:rPr lang="en" sz="2000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: Up-to-date</a:t>
            </a:r>
            <a:r>
              <a:rPr lang="en-US" sz="2000" dirty="0">
                <a:solidFill>
                  <a:srgbClr val="0518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 or all </a:t>
            </a:r>
            <a:r>
              <a:rPr lang="en-US" sz="2000" b="0" dirty="0">
                <a:solidFill>
                  <a:srgbClr val="05184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from all reporting organization units should be submitted at the appointed time.</a:t>
            </a:r>
          </a:p>
          <a:p>
            <a:pPr marL="609585" indent="-507987" algn="just"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Complete</a:t>
            </a:r>
            <a:r>
              <a:rPr lang="en" sz="2000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:</a:t>
            </a: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  </a:t>
            </a:r>
            <a:r>
              <a:rPr lang="en-US" sz="2000" b="0" dirty="0">
                <a:solidFill>
                  <a:srgbClr val="05184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for all data elements for all reporting organization units should have been submitted i.e. </a:t>
            </a: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Submission by all (most)  facilities of the expected reporting sites</a:t>
            </a:r>
          </a:p>
          <a:p>
            <a:pPr marL="1219170" lvl="1" indent="-507987" algn="just"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All facilities - all datasets - all fields</a:t>
            </a:r>
          </a:p>
          <a:p>
            <a:pPr marL="609585" indent="-507987" algn="just"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Consistent</a:t>
            </a:r>
            <a:r>
              <a:rPr lang="en" sz="2000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:</a:t>
            </a: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 </a:t>
            </a:r>
            <a:r>
              <a:rPr lang="en-US" sz="2000" b="0" dirty="0">
                <a:solidFill>
                  <a:srgbClr val="05184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should be consistent with data entered during earlier months and years and consistent with other similar facilities.</a:t>
            </a:r>
          </a:p>
          <a:p>
            <a:pPr marL="1009635" lvl="1" indent="-507987" algn="just"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Within normal ranges; with no outlier/ unusual variation.</a:t>
            </a:r>
          </a:p>
          <a:p>
            <a:pPr marL="1219170" lvl="1" indent="-507987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comparable across time and other datasets</a:t>
            </a:r>
          </a:p>
          <a:p>
            <a:pPr marL="609585" indent="-507987" algn="just">
              <a:spcAft>
                <a:spcPts val="1867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Correct</a:t>
            </a:r>
            <a:r>
              <a:rPr lang="en" sz="2000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: </a:t>
            </a:r>
            <a:r>
              <a:rPr lang="en-US" sz="2000" b="0" dirty="0">
                <a:solidFill>
                  <a:srgbClr val="05184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should be within the normal range for data collected at that facility. There should be no gross discrepancies when compared with data from related data elements.</a:t>
            </a:r>
            <a:r>
              <a:rPr lang="en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Verdana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9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1C2C-7B84-402E-B57D-E5F17AD3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6C43B-4289-4DE2-828B-DB266B1F2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quality verification approaches in DHIS2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the point of data entry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DHIS2 can check the data entered to see if it falls within the minimum-maximum value ranges of that data element/ data type.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defining validation rules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which can be run once the user has finished data entry to check whether it is in the defined rule or not.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analyzing data sets: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is, examine gaps in the data.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data triangulation: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is, comparing the same data or indicator from different 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60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55CB-FF8D-4ECB-85DB-2D8A7580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Validation rule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2F20-A67C-4A6E-B96D-2622BBB3E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283" y="1066800"/>
            <a:ext cx="11658600" cy="49831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>
                <a:ea typeface="Calibri" panose="020F0502020204030204" pitchFamily="34" charset="0"/>
              </a:rPr>
              <a:t>A method to assess the quality of data entered in dhis2 based on a set of predefined rules set for the data.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ea typeface="Calibri" panose="020F0502020204030204" pitchFamily="34" charset="0"/>
              </a:rPr>
              <a:t>This does NOT allow you to Fully assess whether or not reporting number are completely accurate.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51841"/>
                </a:solidFill>
              </a:rPr>
              <a:t>Example</a:t>
            </a:r>
            <a:endParaRPr lang="en-US" sz="2000" b="0" i="0" dirty="0">
              <a:solidFill>
                <a:srgbClr val="051841"/>
              </a:solidFill>
              <a:effectLst/>
            </a:endParaRP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A validation rule could assert that "Suspected malaria cases tested" &gt;= "Confirmed malaria cases“;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51841"/>
                </a:solidFill>
              </a:rPr>
              <a:t>Total suspected Measles cases &gt;= “0”, etc.…</a:t>
            </a:r>
            <a:endParaRPr lang="en-US" sz="2000" b="0" i="0" dirty="0">
              <a:solidFill>
                <a:srgbClr val="051841"/>
              </a:solidFill>
              <a:effectLst/>
            </a:endParaRPr>
          </a:p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51841"/>
                </a:solidFill>
                <a:effectLst/>
              </a:rPr>
              <a:t>The validation rule analysis tests validation rules against the data registered in the system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51841"/>
                </a:solidFill>
                <a:effectLst/>
              </a:rPr>
              <a:t>Violations are reported when the condition defined in rule is not met, which means when the condition is false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Run the validation rule analysis, either automatically (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Scheduler)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 or manually (Data quality App).</a:t>
            </a:r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562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6350-4E23-418D-A8C0-F620F752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quality: </a:t>
            </a:r>
            <a:r>
              <a:rPr lang="en" sz="4000" b="1" i="1" dirty="0">
                <a:ea typeface="Calibri"/>
                <a:cs typeface="Calibri"/>
                <a:sym typeface="Calibri"/>
              </a:rPr>
              <a:t>Correctiness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FB6DF-6943-4EFB-9A16-2FCACA87B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585" indent="-507987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Data Entry Level Validations: </a:t>
            </a:r>
            <a:r>
              <a:rPr lang="en" sz="2000" i="1" dirty="0">
                <a:ea typeface="Calibri"/>
                <a:cs typeface="Calibri"/>
                <a:sym typeface="Calibri"/>
              </a:rPr>
              <a:t>Data Types, Validation Rules </a:t>
            </a:r>
          </a:p>
          <a:p>
            <a:pPr marL="609585" indent="-507987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000" i="1" dirty="0">
                <a:ea typeface="Calibri"/>
                <a:cs typeface="Calibri"/>
                <a:sym typeface="Calibri"/>
              </a:rPr>
              <a:t>U</a:t>
            </a:r>
            <a:r>
              <a:rPr lang="en" sz="2000" i="1" dirty="0">
                <a:ea typeface="Calibri"/>
                <a:cs typeface="Calibri"/>
                <a:sym typeface="Calibri"/>
              </a:rPr>
              <a:t>sed to check </a:t>
            </a:r>
            <a:r>
              <a:rPr lang="en" sz="2000" b="1" i="1" dirty="0">
                <a:ea typeface="Calibri"/>
                <a:cs typeface="Calibri"/>
                <a:sym typeface="Calibri"/>
              </a:rPr>
              <a:t>Correctiness</a:t>
            </a:r>
            <a:r>
              <a:rPr lang="en" sz="2000" i="1" dirty="0">
                <a:ea typeface="Calibri"/>
                <a:cs typeface="Calibri"/>
                <a:sym typeface="Calibri"/>
              </a:rPr>
              <a:t> of the data. </a:t>
            </a:r>
          </a:p>
          <a:p>
            <a:pPr marL="609585" indent="-507987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000" i="1" dirty="0">
                <a:ea typeface="Calibri"/>
                <a:cs typeface="Calibri"/>
                <a:sym typeface="Calibri"/>
              </a:rPr>
              <a:t>After completing the data entry Run validation rule.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B44D8-7258-477B-BDB6-0801E17DD8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" b="11506"/>
          <a:stretch/>
        </p:blipFill>
        <p:spPr>
          <a:xfrm>
            <a:off x="8646459" y="991206"/>
            <a:ext cx="3160059" cy="1458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FE3231-781D-4A74-A0B2-CDBB87151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71"/>
          <a:stretch/>
        </p:blipFill>
        <p:spPr>
          <a:xfrm>
            <a:off x="609599" y="2580654"/>
            <a:ext cx="10972801" cy="341433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44AF0E-2621-41FD-A8A7-8DA8790DA361}"/>
              </a:ext>
            </a:extLst>
          </p:cNvPr>
          <p:cNvSpPr/>
          <p:nvPr/>
        </p:nvSpPr>
        <p:spPr>
          <a:xfrm>
            <a:off x="4935071" y="2580654"/>
            <a:ext cx="4476215" cy="1583383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4DDA69-EEA9-4865-AE06-6156B4A4D87E}"/>
              </a:ext>
            </a:extLst>
          </p:cNvPr>
          <p:cNvSpPr/>
          <p:nvPr/>
        </p:nvSpPr>
        <p:spPr>
          <a:xfrm>
            <a:off x="7146388" y="5627077"/>
            <a:ext cx="1500071" cy="3679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793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9D4A-39C7-4FA2-B386-B522C6EE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Quality: </a:t>
            </a:r>
            <a:r>
              <a:rPr lang="en" sz="4000" b="1" i="1" dirty="0">
                <a:ea typeface="Calibri"/>
                <a:cs typeface="Calibri"/>
                <a:sym typeface="Calibri"/>
              </a:rPr>
              <a:t>Consistency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8A661-7B51-44C6-9D81-A44AFCCFE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35" y="1066800"/>
            <a:ext cx="11551024" cy="4983163"/>
          </a:xfrm>
        </p:spPr>
        <p:txBody>
          <a:bodyPr/>
          <a:lstStyle/>
          <a:p>
            <a:pPr marL="609585" indent="-507987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18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Trend Analysis: </a:t>
            </a:r>
            <a:r>
              <a:rPr lang="en-US" sz="1800" dirty="0"/>
              <a:t>Trends and Comments  for instance</a:t>
            </a:r>
          </a:p>
          <a:p>
            <a:pPr marL="101598" indent="0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dirty="0"/>
              <a:t>        13 consecutive reporting periods.</a:t>
            </a:r>
          </a:p>
          <a:p>
            <a:pPr marL="609585" indent="-507987">
              <a:lnSpc>
                <a:spcPct val="15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1800" b="1" i="1" dirty="0">
                <a:ea typeface="Calibri"/>
                <a:cs typeface="Calibri"/>
                <a:sym typeface="Calibri"/>
              </a:rPr>
              <a:t>Used to check </a:t>
            </a:r>
            <a:r>
              <a:rPr lang="en" sz="1800" b="1" i="1" dirty="0">
                <a:ea typeface="Calibri"/>
                <a:cs typeface="Calibri"/>
                <a:sym typeface="Calibri"/>
              </a:rPr>
              <a:t>Consistency</a:t>
            </a:r>
            <a:r>
              <a:rPr lang="en" sz="1800" i="1" dirty="0">
                <a:ea typeface="Calibri"/>
                <a:cs typeface="Calibri"/>
                <a:sym typeface="Calibri"/>
              </a:rPr>
              <a:t> of the data</a:t>
            </a:r>
            <a:endParaRPr lang="en-US" sz="1800" i="1" dirty="0"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Create minimum maximum value range manually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1800" dirty="0"/>
              <a:t>Go to </a:t>
            </a:r>
            <a:r>
              <a:rPr lang="en-US" sz="1800" b="1" dirty="0"/>
              <a:t>Data Entry </a:t>
            </a:r>
            <a:r>
              <a:rPr lang="en-US" sz="1800" dirty="0"/>
              <a:t>app, open a data entry form.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1800" dirty="0"/>
              <a:t>Double-click the </a:t>
            </a:r>
            <a:r>
              <a:rPr lang="en-US" sz="1800" b="1" dirty="0"/>
              <a:t>field</a:t>
            </a:r>
            <a:r>
              <a:rPr lang="en-US" sz="1800" dirty="0"/>
              <a:t> for which you want to set  the minimum maximum value range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  &gt;&gt; Enter </a:t>
            </a:r>
            <a:r>
              <a:rPr lang="en-US" sz="1800" b="1" dirty="0"/>
              <a:t>Min limit </a:t>
            </a:r>
            <a:r>
              <a:rPr lang="en-US" sz="1800" dirty="0"/>
              <a:t>and </a:t>
            </a:r>
            <a:r>
              <a:rPr lang="en-US" sz="1800" b="1" dirty="0"/>
              <a:t>Max limit &gt;&gt; </a:t>
            </a:r>
            <a:r>
              <a:rPr lang="en-US" sz="1800" dirty="0"/>
              <a:t>Click </a:t>
            </a:r>
            <a:r>
              <a:rPr lang="en-US" sz="1800" b="1" dirty="0"/>
              <a:t>Save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3. (Optional) Type a comment to explain the reason for  the discrepancy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4. (Optional) Click </a:t>
            </a:r>
            <a:r>
              <a:rPr lang="en-US" sz="1800" b="1" dirty="0"/>
              <a:t>Save comment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---help identify outliers[outbreak]/ max-min period / trend</a:t>
            </a:r>
          </a:p>
          <a:p>
            <a:pPr marL="1219170" lvl="1" indent="-507987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" i="1" dirty="0"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34DAB-2921-4DB4-BC8F-8A0132B8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941" y="1066800"/>
            <a:ext cx="4881284" cy="482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4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EE7F-D92F-414A-BC96-24767DFB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Quality: Entry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DC5C-AD4B-46E5-9B3D-4F3EFB862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08530"/>
            <a:ext cx="11291047" cy="515022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Checking </a:t>
            </a:r>
            <a:r>
              <a:rPr lang="en-US" sz="2000" b="1" dirty="0"/>
              <a:t>Data type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Most data are Numbers, Text,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Dates, Yes/No or drop-down lists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DHIS 2 has automatic quality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    check when mistakes are made.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By prompting error messages.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Date data elements have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1600" dirty="0"/>
              <a:t>       a date picker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Yes/No and Option Sets have 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1600" dirty="0"/>
              <a:t>     drop down lists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2B5A9-5072-4A42-BCF4-B17A1495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79" y="1008531"/>
            <a:ext cx="7189692" cy="51502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9BCBB2-C2FA-4195-823B-00E3A1C26C24}"/>
              </a:ext>
            </a:extLst>
          </p:cNvPr>
          <p:cNvSpPr/>
          <p:nvPr/>
        </p:nvSpPr>
        <p:spPr>
          <a:xfrm>
            <a:off x="7624689" y="1008530"/>
            <a:ext cx="2926080" cy="170653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46D97E-4B32-4EBA-83DC-4A6E1E7E6707}"/>
              </a:ext>
            </a:extLst>
          </p:cNvPr>
          <p:cNvSpPr/>
          <p:nvPr/>
        </p:nvSpPr>
        <p:spPr>
          <a:xfrm>
            <a:off x="9045526" y="5711483"/>
            <a:ext cx="1083212" cy="447271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367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6DC6-4C15-456E-946D-BB542734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Validation Rule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1D33-0590-4D12-AB16-8C65176F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66800"/>
            <a:ext cx="11250707" cy="49831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/>
              <a:t>This done based on validation rules, validation rule groups and validation notifications created</a:t>
            </a:r>
            <a:r>
              <a:rPr lang="en-US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/>
              <a:t>Example</a:t>
            </a:r>
            <a:r>
              <a:rPr lang="en-US" sz="1800" dirty="0"/>
              <a:t>: A validation rule could assert that “Suspected malaria cases tested” &gt;= “Confirmed malaria cases”.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/>
              <a:t>Steps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Go to </a:t>
            </a:r>
            <a:r>
              <a:rPr lang="en-US" sz="1800" b="1" dirty="0"/>
              <a:t>Data Quality </a:t>
            </a:r>
            <a:r>
              <a:rPr lang="en-US" sz="1800" dirty="0"/>
              <a:t>app and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click </a:t>
            </a:r>
            <a:r>
              <a:rPr lang="en-US" sz="1800" b="1" dirty="0"/>
              <a:t>Validation rule analysis </a:t>
            </a:r>
            <a:r>
              <a:rPr lang="en-US" sz="1800" dirty="0"/>
              <a:t>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Select </a:t>
            </a:r>
            <a:r>
              <a:rPr lang="en-US" sz="1800" b="1" dirty="0"/>
              <a:t>Start date </a:t>
            </a:r>
            <a:r>
              <a:rPr lang="en-US" sz="1800" dirty="0"/>
              <a:t>and </a:t>
            </a:r>
            <a:r>
              <a:rPr lang="en-US" sz="1800" b="1" dirty="0"/>
              <a:t>End date 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Select which </a:t>
            </a:r>
            <a:r>
              <a:rPr lang="en-US" sz="1800" b="1" dirty="0"/>
              <a:t>Validation rule group </a:t>
            </a:r>
            <a:r>
              <a:rPr lang="en-US" sz="1800" dirty="0"/>
              <a:t>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Select a </a:t>
            </a:r>
            <a:r>
              <a:rPr lang="en-US" sz="1800" b="1" dirty="0"/>
              <a:t>Parent organization unit &gt;&gt;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Click </a:t>
            </a:r>
            <a:r>
              <a:rPr lang="en-US" sz="1800" b="1" dirty="0"/>
              <a:t>Validate &gt;&gt; </a:t>
            </a:r>
            <a:r>
              <a:rPr lang="en-US" sz="1800" dirty="0"/>
              <a:t>(Optional) Click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1800" dirty="0"/>
              <a:t> </a:t>
            </a:r>
            <a:r>
              <a:rPr lang="en-US" sz="1800" b="1" dirty="0"/>
              <a:t>Download as PDF </a:t>
            </a:r>
            <a:r>
              <a:rPr lang="en-US" sz="1800" dirty="0"/>
              <a:t>, </a:t>
            </a:r>
            <a:r>
              <a:rPr lang="en-US" sz="1800" b="1" dirty="0"/>
              <a:t>as Excel </a:t>
            </a:r>
            <a:r>
              <a:rPr lang="en-US" sz="1800" dirty="0"/>
              <a:t>or </a:t>
            </a:r>
            <a:r>
              <a:rPr lang="en-US" sz="1800" b="1" dirty="0"/>
              <a:t>Download as CSV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211A1E-D89F-4154-8DF9-B606AD47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43" y="1988648"/>
            <a:ext cx="6697463" cy="406131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99A47C4-6C6C-46F0-9C35-78750E1AEFF1}"/>
              </a:ext>
            </a:extLst>
          </p:cNvPr>
          <p:cNvSpPr/>
          <p:nvPr/>
        </p:nvSpPr>
        <p:spPr>
          <a:xfrm>
            <a:off x="5570806" y="2067951"/>
            <a:ext cx="1308296" cy="323557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F47813-D41A-4CF3-891B-957F9F7CEAA9}"/>
              </a:ext>
            </a:extLst>
          </p:cNvPr>
          <p:cNvSpPr/>
          <p:nvPr/>
        </p:nvSpPr>
        <p:spPr>
          <a:xfrm>
            <a:off x="7484012" y="2883877"/>
            <a:ext cx="1800665" cy="295421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72B52C-C3EF-4F3F-9FE0-7EB2AAB8243C}"/>
              </a:ext>
            </a:extLst>
          </p:cNvPr>
          <p:cNvSpPr/>
          <p:nvPr/>
        </p:nvSpPr>
        <p:spPr>
          <a:xfrm>
            <a:off x="10255348" y="3784209"/>
            <a:ext cx="1327052" cy="3657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6E2E3F-55E9-4CF8-938F-B376DC3C008D}"/>
              </a:ext>
            </a:extLst>
          </p:cNvPr>
          <p:cNvSpPr/>
          <p:nvPr/>
        </p:nvSpPr>
        <p:spPr>
          <a:xfrm>
            <a:off x="7061982" y="5416062"/>
            <a:ext cx="1055076" cy="375138"/>
          </a:xfrm>
          <a:prstGeom prst="ellipse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82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D5A1-8EC4-426A-8FE2-E91EB02E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Outlier analysis [</a:t>
            </a:r>
            <a:r>
              <a:rPr lang="en-US" sz="2800" dirty="0"/>
              <a:t>Standard Deviation</a:t>
            </a:r>
            <a:r>
              <a:rPr lang="en-US" dirty="0"/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8D8F7-9953-4A3F-9D0F-D7DBB3E65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66800"/>
            <a:ext cx="11291047" cy="4983163"/>
          </a:xfrm>
        </p:spPr>
        <p:txBody>
          <a:bodyPr/>
          <a:lstStyle/>
          <a:p>
            <a:pPr algn="just"/>
            <a:r>
              <a:rPr lang="en-US" sz="2000" b="0" i="0" dirty="0">
                <a:solidFill>
                  <a:srgbClr val="051841"/>
                </a:solidFill>
                <a:effectLst/>
              </a:rPr>
              <a:t>The analysis identifies values that are numerically distant from the rest of the data</a:t>
            </a:r>
            <a:r>
              <a:rPr lang="en-US" sz="2000" dirty="0">
                <a:solidFill>
                  <a:srgbClr val="051841"/>
                </a:solidFill>
              </a:rPr>
              <a:t>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based on the standard normal distribution. </a:t>
            </a:r>
          </a:p>
          <a:p>
            <a:pPr algn="just"/>
            <a:r>
              <a:rPr lang="en-US" sz="2000" b="0" i="0" dirty="0">
                <a:solidFill>
                  <a:srgbClr val="051841"/>
                </a:solidFill>
                <a:effectLst/>
              </a:rPr>
              <a:t>DHIS2 calculates the mean of all values for an organization unit, data element, category option combination and attribute option combination. </a:t>
            </a:r>
          </a:p>
          <a:p>
            <a:pPr marL="0" indent="0" algn="just">
              <a:buNone/>
            </a:pPr>
            <a:r>
              <a:rPr lang="en-US" sz="2000" b="1" dirty="0"/>
              <a:t>Steps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solidFill>
                  <a:srgbClr val="051841"/>
                </a:solidFill>
              </a:rPr>
              <a:t>Go to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Data Quality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 app 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solidFill>
                  <a:srgbClr val="051841"/>
                </a:solidFill>
              </a:rPr>
              <a:t>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click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Outlier Detection</a:t>
            </a:r>
            <a:r>
              <a:rPr lang="en-US" sz="2000" dirty="0">
                <a:solidFill>
                  <a:srgbClr val="051841"/>
                </a:solidFill>
              </a:rPr>
              <a:t>.</a:t>
            </a:r>
            <a:endParaRPr lang="en-US" sz="2000" b="0" i="0" dirty="0">
              <a:solidFill>
                <a:srgbClr val="05184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 </a:t>
            </a:r>
            <a:r>
              <a:rPr lang="en-US" sz="2000" b="1" dirty="0">
                <a:solidFill>
                  <a:srgbClr val="051841"/>
                </a:solidFill>
              </a:rPr>
              <a:t>Start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and </a:t>
            </a:r>
            <a:r>
              <a:rPr lang="en-US" sz="2000" b="1" dirty="0">
                <a:solidFill>
                  <a:srgbClr val="051841"/>
                </a:solidFill>
              </a:rPr>
              <a:t>end 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date</a:t>
            </a:r>
            <a:r>
              <a:rPr lang="en-US" sz="2000" dirty="0">
                <a:solidFill>
                  <a:srgbClr val="051841"/>
                </a:solidFill>
              </a:rPr>
              <a:t>.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Select data set(s) 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Parent organization unit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 the number of standard deviations.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Click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Start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If there are standard deviations outliers,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51841"/>
                </a:solidFill>
              </a:rPr>
              <a:t>   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they will be presented in a list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0C7A8-25A2-4DE8-BFF7-5F2A1555F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756" y="2224256"/>
            <a:ext cx="6248114" cy="382570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D75D36C-CCBC-423B-90C2-099C6C894085}"/>
              </a:ext>
            </a:extLst>
          </p:cNvPr>
          <p:cNvSpPr/>
          <p:nvPr/>
        </p:nvSpPr>
        <p:spPr>
          <a:xfrm>
            <a:off x="6096000" y="2560320"/>
            <a:ext cx="839372" cy="295422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F70126-B084-4C3C-A0C1-8DED8FF6C864}"/>
              </a:ext>
            </a:extLst>
          </p:cNvPr>
          <p:cNvSpPr/>
          <p:nvPr/>
        </p:nvSpPr>
        <p:spPr>
          <a:xfrm>
            <a:off x="7512148" y="2715065"/>
            <a:ext cx="1603717" cy="520504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628AE0-ED27-456D-9801-245477CF06C1}"/>
              </a:ext>
            </a:extLst>
          </p:cNvPr>
          <p:cNvSpPr/>
          <p:nvPr/>
        </p:nvSpPr>
        <p:spPr>
          <a:xfrm>
            <a:off x="9369083" y="2855742"/>
            <a:ext cx="1223889" cy="379827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1EF7C3-9D09-4BDB-8B4B-5EE3FC6B2D38}"/>
              </a:ext>
            </a:extLst>
          </p:cNvPr>
          <p:cNvSpPr/>
          <p:nvPr/>
        </p:nvSpPr>
        <p:spPr>
          <a:xfrm>
            <a:off x="10705040" y="2855742"/>
            <a:ext cx="651912" cy="3798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4436CF-A788-44FF-AB43-3347F2890894}"/>
              </a:ext>
            </a:extLst>
          </p:cNvPr>
          <p:cNvSpPr/>
          <p:nvPr/>
        </p:nvSpPr>
        <p:spPr>
          <a:xfrm>
            <a:off x="10813257" y="3305908"/>
            <a:ext cx="623777" cy="45016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33727F-76F7-49AD-8AB6-849BB77627AB}"/>
              </a:ext>
            </a:extLst>
          </p:cNvPr>
          <p:cNvSpPr/>
          <p:nvPr/>
        </p:nvSpPr>
        <p:spPr>
          <a:xfrm>
            <a:off x="10813257" y="3756074"/>
            <a:ext cx="543695" cy="45016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75D87F6-FB42-4F55-BBAC-2B7769FF6A10}"/>
              </a:ext>
            </a:extLst>
          </p:cNvPr>
          <p:cNvSpPr/>
          <p:nvPr/>
        </p:nvSpPr>
        <p:spPr>
          <a:xfrm>
            <a:off x="7385538" y="5627077"/>
            <a:ext cx="844062" cy="4228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786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A0BF-E623-4DBB-9ABA-CD821DBD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dirty="0">
                <a:solidFill>
                  <a:srgbClr val="051841"/>
                </a:solidFill>
                <a:latin typeface="Inter"/>
              </a:rPr>
              <a:t>Outlier analysis [Minimum maximum]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4E59-E974-4435-ADBC-B17F2A15D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66800"/>
            <a:ext cx="11264153" cy="4983163"/>
          </a:xfrm>
        </p:spPr>
        <p:txBody>
          <a:bodyPr/>
          <a:lstStyle/>
          <a:p>
            <a:pPr algn="just"/>
            <a:r>
              <a:rPr lang="en-US" sz="2000" dirty="0">
                <a:solidFill>
                  <a:srgbClr val="051841"/>
                </a:solidFill>
              </a:rPr>
              <a:t>This is to v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erify the data quality at the point of data entry by setting a minimum/maximum value range for data value.</a:t>
            </a:r>
          </a:p>
          <a:p>
            <a:pPr marL="0" indent="0" algn="just">
              <a:buNone/>
            </a:pPr>
            <a:r>
              <a:rPr lang="en-US" sz="2000" b="1" dirty="0"/>
              <a:t>Step: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Verify created minimum maximum value ranges.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solidFill>
                  <a:srgbClr val="051841"/>
                </a:solidFill>
              </a:rPr>
              <a:t>Go to 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Data Quality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 app 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 Outlier detection 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Min-max value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 </a:t>
            </a:r>
            <a:r>
              <a:rPr lang="en-US" sz="2000" b="1" dirty="0">
                <a:solidFill>
                  <a:srgbClr val="051841"/>
                </a:solidFill>
              </a:rPr>
              <a:t>start 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and </a:t>
            </a:r>
            <a:r>
              <a:rPr lang="en-US" sz="2000" b="1" dirty="0">
                <a:solidFill>
                  <a:srgbClr val="051841"/>
                </a:solidFill>
              </a:rPr>
              <a:t>end 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date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 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 which data set(s).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Select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Parent org. unit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sz="2000" b="0" i="0" dirty="0">
                <a:solidFill>
                  <a:srgbClr val="051841"/>
                </a:solidFill>
                <a:effectLst/>
              </a:rPr>
              <a:t>Click </a:t>
            </a:r>
            <a:r>
              <a:rPr lang="en-US" sz="2000" b="1" i="0" dirty="0">
                <a:solidFill>
                  <a:srgbClr val="051841"/>
                </a:solidFill>
                <a:effectLst/>
              </a:rPr>
              <a:t>Start</a:t>
            </a:r>
            <a:r>
              <a:rPr lang="en-US" sz="2000" b="0" i="0" dirty="0">
                <a:solidFill>
                  <a:srgbClr val="051841"/>
                </a:solidFill>
                <a:effectLst/>
              </a:rPr>
              <a:t>.</a:t>
            </a:r>
          </a:p>
          <a:p>
            <a:pPr algn="just"/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1F19E-1244-45DC-96EC-30A90C31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506" y="1533377"/>
            <a:ext cx="6963506" cy="459559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E8354E2-6C0A-4D3C-B18E-F925881991FF}"/>
              </a:ext>
            </a:extLst>
          </p:cNvPr>
          <p:cNvSpPr/>
          <p:nvPr/>
        </p:nvSpPr>
        <p:spPr>
          <a:xfrm>
            <a:off x="5345723" y="2039815"/>
            <a:ext cx="1012874" cy="351693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04CE6D-5F55-4B67-A3C8-2002AD2F31C9}"/>
              </a:ext>
            </a:extLst>
          </p:cNvPr>
          <p:cNvSpPr/>
          <p:nvPr/>
        </p:nvSpPr>
        <p:spPr>
          <a:xfrm>
            <a:off x="6893169" y="2391508"/>
            <a:ext cx="1983545" cy="35169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885873-28FE-416A-A47C-1E4B3D7A39F2}"/>
              </a:ext>
            </a:extLst>
          </p:cNvPr>
          <p:cNvSpPr/>
          <p:nvPr/>
        </p:nvSpPr>
        <p:spPr>
          <a:xfrm>
            <a:off x="9200271" y="2391508"/>
            <a:ext cx="1477106" cy="520504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86D6E9-DE4A-4129-A7EE-2209AB5C50EE}"/>
              </a:ext>
            </a:extLst>
          </p:cNvPr>
          <p:cNvSpPr/>
          <p:nvPr/>
        </p:nvSpPr>
        <p:spPr>
          <a:xfrm>
            <a:off x="10818055" y="2391508"/>
            <a:ext cx="764345" cy="3516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C503563-EBF1-4E98-81CC-9670DA09A8DC}"/>
              </a:ext>
            </a:extLst>
          </p:cNvPr>
          <p:cNvSpPr/>
          <p:nvPr/>
        </p:nvSpPr>
        <p:spPr>
          <a:xfrm>
            <a:off x="10818055" y="3052689"/>
            <a:ext cx="900333" cy="3516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1B4FB1-152E-4085-B223-981CCCF0C5FD}"/>
              </a:ext>
            </a:extLst>
          </p:cNvPr>
          <p:cNvSpPr/>
          <p:nvPr/>
        </p:nvSpPr>
        <p:spPr>
          <a:xfrm>
            <a:off x="10818055" y="3601332"/>
            <a:ext cx="1055697" cy="3516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2280C4-F6E9-4AA7-BF27-990ED30B7502}"/>
              </a:ext>
            </a:extLst>
          </p:cNvPr>
          <p:cNvSpPr/>
          <p:nvPr/>
        </p:nvSpPr>
        <p:spPr>
          <a:xfrm>
            <a:off x="6710289" y="5472337"/>
            <a:ext cx="1209822" cy="6566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046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BD28-2AA1-40D6-9A4C-F6F84E1A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Follow-up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C70E6-7118-4E29-89B2-9933B5788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7" y="1066800"/>
            <a:ext cx="11111753" cy="49831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</a:rPr>
              <a:t>Mark a data element for follow-up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Open the </a:t>
            </a:r>
            <a:r>
              <a:rPr lang="en-US" sz="2000" b="1" i="0" dirty="0">
                <a:solidFill>
                  <a:srgbClr val="333333"/>
                </a:solidFill>
                <a:effectLst/>
              </a:rPr>
              <a:t>Data Entry 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app.</a:t>
            </a:r>
            <a:endParaRPr lang="en-US" sz="2000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Open an existing data entry form.</a:t>
            </a:r>
            <a:endParaRPr lang="en-US" sz="2000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Double-click the field with the value you want to mark for follow-up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Click the star icon.</a:t>
            </a:r>
          </a:p>
          <a:p>
            <a:pPr marL="0" indent="0">
              <a:buNone/>
            </a:pPr>
            <a:r>
              <a:rPr lang="en-US" sz="2000" b="1" dirty="0"/>
              <a:t>Step to conduct FU for marked ones as:</a:t>
            </a:r>
          </a:p>
          <a:p>
            <a:pPr marL="457200" indent="-457200">
              <a:buAutoNum type="arabicPeriod"/>
            </a:pPr>
            <a:r>
              <a:rPr lang="en-US" sz="2000" dirty="0"/>
              <a:t>Open the </a:t>
            </a:r>
            <a:r>
              <a:rPr lang="en-US" sz="2000" b="1" dirty="0"/>
              <a:t>Data Quality </a:t>
            </a:r>
            <a:r>
              <a:rPr lang="en-US" sz="2000" dirty="0"/>
              <a:t>app and</a:t>
            </a:r>
          </a:p>
          <a:p>
            <a:pPr marL="457200" indent="-457200">
              <a:buAutoNum type="arabicPeriod"/>
            </a:pPr>
            <a:r>
              <a:rPr lang="en-US" sz="2000" dirty="0"/>
              <a:t> click </a:t>
            </a:r>
            <a:r>
              <a:rPr lang="en-US" sz="2000" b="1" dirty="0"/>
              <a:t>Follow-up analysis 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/>
              <a:t>Select an </a:t>
            </a:r>
            <a:r>
              <a:rPr lang="en-US" sz="2000" b="1" dirty="0"/>
              <a:t>Organization unit</a:t>
            </a:r>
          </a:p>
          <a:p>
            <a:pPr marL="457200" indent="-457200">
              <a:buAutoNum type="arabicPeriod"/>
            </a:pPr>
            <a:r>
              <a:rPr lang="en-US" sz="2000" dirty="0"/>
              <a:t>(Optional) Click </a:t>
            </a:r>
            <a:r>
              <a:rPr lang="en-US" sz="2000" b="1" dirty="0"/>
              <a:t>Download as PDF 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 </a:t>
            </a:r>
            <a:r>
              <a:rPr lang="en-US" sz="2000" b="1" dirty="0"/>
              <a:t>Download as Excel </a:t>
            </a:r>
            <a:r>
              <a:rPr lang="en-US" sz="2000" dirty="0"/>
              <a:t>or </a:t>
            </a:r>
            <a:r>
              <a:rPr lang="en-US" sz="2000" b="1" dirty="0"/>
              <a:t>Download as CSV.</a:t>
            </a:r>
            <a:endParaRPr lang="en-US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E8E8DE-B968-4314-89B1-7E320095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9" y="1066801"/>
            <a:ext cx="6316395" cy="47244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964A155-C803-4B8E-AF2D-09805CEC29AD}"/>
              </a:ext>
            </a:extLst>
          </p:cNvPr>
          <p:cNvSpPr/>
          <p:nvPr/>
        </p:nvSpPr>
        <p:spPr>
          <a:xfrm>
            <a:off x="5739618" y="1927274"/>
            <a:ext cx="1167619" cy="4642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9E4D2D-BE87-4961-856E-821E6D1B18F2}"/>
              </a:ext>
            </a:extLst>
          </p:cNvPr>
          <p:cNvSpPr/>
          <p:nvPr/>
        </p:nvSpPr>
        <p:spPr>
          <a:xfrm>
            <a:off x="7441809" y="1800665"/>
            <a:ext cx="1631853" cy="7596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37A131-C8B7-42BE-9F5D-0E132D86E356}"/>
              </a:ext>
            </a:extLst>
          </p:cNvPr>
          <p:cNvSpPr/>
          <p:nvPr/>
        </p:nvSpPr>
        <p:spPr>
          <a:xfrm>
            <a:off x="9369083" y="2082018"/>
            <a:ext cx="1477109" cy="3094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741EC6-9413-41BF-8173-F688C90B0ED4}"/>
              </a:ext>
            </a:extLst>
          </p:cNvPr>
          <p:cNvSpPr/>
          <p:nvPr/>
        </p:nvSpPr>
        <p:spPr>
          <a:xfrm>
            <a:off x="11000935" y="2082018"/>
            <a:ext cx="651804" cy="3094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FDB84AF-9F0E-4ED8-8913-48EBC3B3609F}"/>
              </a:ext>
            </a:extLst>
          </p:cNvPr>
          <p:cNvSpPr/>
          <p:nvPr/>
        </p:nvSpPr>
        <p:spPr>
          <a:xfrm>
            <a:off x="11000935" y="2696308"/>
            <a:ext cx="720418" cy="3094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285889-7E8C-4AA8-89F4-929291516061}"/>
              </a:ext>
            </a:extLst>
          </p:cNvPr>
          <p:cNvSpPr/>
          <p:nvPr/>
        </p:nvSpPr>
        <p:spPr>
          <a:xfrm>
            <a:off x="7160455" y="5190978"/>
            <a:ext cx="1266093" cy="60022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842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E37E-4BFA-4E91-AF17-DE1E05DF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Data Quality: </a:t>
            </a:r>
            <a:r>
              <a:rPr lang="en-US" sz="3000" i="1" dirty="0">
                <a:ea typeface="Calibri"/>
                <a:cs typeface="Calibri"/>
              </a:rPr>
              <a:t>Completeness and Timelines of the data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2B38-8650-4137-8C6B-456944FD5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071" y="1066800"/>
            <a:ext cx="11219329" cy="4983163"/>
          </a:xfrm>
        </p:spPr>
        <p:txBody>
          <a:bodyPr/>
          <a:lstStyle/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dirty="0">
                <a:solidFill>
                  <a:srgbClr val="FF0000"/>
                </a:solidFill>
                <a:ea typeface="Calibri"/>
                <a:cs typeface="Calibri"/>
              </a:rPr>
              <a:t>Reports app: </a:t>
            </a:r>
            <a:r>
              <a:rPr lang="en-US" sz="2000" dirty="0"/>
              <a:t>Reporting Rate Summary </a:t>
            </a:r>
          </a:p>
          <a:p>
            <a:pPr marL="609585" indent="-507987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000" i="1" dirty="0">
                <a:ea typeface="Calibri"/>
                <a:cs typeface="Calibri"/>
              </a:rPr>
              <a:t>To check Completeness and Timelines of the data.</a:t>
            </a:r>
          </a:p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i="1" dirty="0">
                <a:ea typeface="Calibri"/>
                <a:cs typeface="Calibri"/>
              </a:rPr>
              <a:t>1. Go to Report app </a:t>
            </a:r>
          </a:p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i="1" dirty="0">
                <a:ea typeface="Calibri"/>
                <a:cs typeface="Calibri"/>
              </a:rPr>
              <a:t>2. select </a:t>
            </a:r>
            <a:r>
              <a:rPr lang="en-US" sz="2000" b="1" i="1" dirty="0">
                <a:ea typeface="Calibri"/>
                <a:cs typeface="Calibri"/>
              </a:rPr>
              <a:t>Report rate summary </a:t>
            </a:r>
          </a:p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i="1" dirty="0">
                <a:ea typeface="Calibri"/>
                <a:cs typeface="Calibri"/>
              </a:rPr>
              <a:t>3. </a:t>
            </a:r>
            <a:r>
              <a:rPr lang="en-US" sz="2000" i="1" dirty="0">
                <a:ea typeface="Calibri"/>
                <a:cs typeface="Calibri"/>
              </a:rPr>
              <a:t>Select</a:t>
            </a:r>
            <a:r>
              <a:rPr lang="en-US" sz="2000" b="1" i="1" dirty="0">
                <a:ea typeface="Calibri"/>
                <a:cs typeface="Calibri"/>
              </a:rPr>
              <a:t> Orgunits and Data set</a:t>
            </a:r>
          </a:p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i="1" dirty="0">
                <a:ea typeface="Calibri"/>
                <a:cs typeface="Calibri"/>
              </a:rPr>
              <a:t>4. Select year and week no</a:t>
            </a:r>
          </a:p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b="1" i="1" dirty="0">
                <a:ea typeface="Calibri"/>
                <a:cs typeface="Calibri"/>
              </a:rPr>
              <a:t>5. Click on Get Report</a:t>
            </a:r>
            <a:endParaRPr lang="en-US" sz="2000" i="1" dirty="0">
              <a:ea typeface="Calibri"/>
              <a:cs typeface="Calibri"/>
            </a:endParaRPr>
          </a:p>
          <a:p>
            <a:pPr marL="101598" indent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000" i="1" dirty="0">
              <a:ea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F0FE7-4D94-4D05-9180-E21B1C39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261" y="1974292"/>
            <a:ext cx="7753822" cy="400230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8F0D69F-8C20-4EBE-815F-0992A58847BC}"/>
              </a:ext>
            </a:extLst>
          </p:cNvPr>
          <p:cNvSpPr/>
          <p:nvPr/>
        </p:nvSpPr>
        <p:spPr>
          <a:xfrm>
            <a:off x="4632272" y="2592951"/>
            <a:ext cx="1083212" cy="3185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C72CFD-6FDC-47DB-BBCB-C2EF5CFF7C6E}"/>
              </a:ext>
            </a:extLst>
          </p:cNvPr>
          <p:cNvSpPr/>
          <p:nvPr/>
        </p:nvSpPr>
        <p:spPr>
          <a:xfrm>
            <a:off x="6194127" y="2752205"/>
            <a:ext cx="1636543" cy="296824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D8D7CD-0059-49FC-AF0F-A85D661A624F}"/>
              </a:ext>
            </a:extLst>
          </p:cNvPr>
          <p:cNvSpPr/>
          <p:nvPr/>
        </p:nvSpPr>
        <p:spPr>
          <a:xfrm>
            <a:off x="9016357" y="2778658"/>
            <a:ext cx="2433710" cy="3376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021BF4-CE09-4A2B-BA20-2573FAE7595B}"/>
              </a:ext>
            </a:extLst>
          </p:cNvPr>
          <p:cNvSpPr/>
          <p:nvPr/>
        </p:nvSpPr>
        <p:spPr>
          <a:xfrm>
            <a:off x="9093936" y="3405899"/>
            <a:ext cx="801858" cy="2533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3C5110-3B5F-470E-9030-1E0AD517F7D0}"/>
              </a:ext>
            </a:extLst>
          </p:cNvPr>
          <p:cNvSpPr/>
          <p:nvPr/>
        </p:nvSpPr>
        <p:spPr>
          <a:xfrm>
            <a:off x="8944777" y="3960749"/>
            <a:ext cx="1288435" cy="3376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CCECF1-3050-470E-9192-60BB3CD61AB8}"/>
              </a:ext>
            </a:extLst>
          </p:cNvPr>
          <p:cNvSpPr/>
          <p:nvPr/>
        </p:nvSpPr>
        <p:spPr>
          <a:xfrm>
            <a:off x="5972735" y="5322475"/>
            <a:ext cx="1148862" cy="3518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054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3C09-D358-71D9-1414-788D3087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>
                <a:latin typeface="Amasis MT Pro Black" panose="02040A04050005020304" pitchFamily="18" charset="0"/>
              </a:rPr>
              <a:t>                       </a:t>
            </a:r>
          </a:p>
          <a:p>
            <a:pPr marL="0" indent="0">
              <a:buNone/>
            </a:pPr>
            <a:endParaRPr lang="en-US" sz="4400" dirty="0">
              <a:latin typeface="Amasis MT Pro Black" panose="02040A04050005020304" pitchFamily="18" charset="0"/>
            </a:endParaRPr>
          </a:p>
          <a:p>
            <a:pPr marL="0" indent="0">
              <a:buNone/>
            </a:pPr>
            <a:endParaRPr lang="en-US" sz="4400" dirty="0">
              <a:latin typeface="Amasis MT Pro Black" panose="02040A04050005020304" pitchFamily="18" charset="0"/>
            </a:endParaRPr>
          </a:p>
          <a:p>
            <a:pPr marL="0" indent="0">
              <a:buNone/>
            </a:pPr>
            <a:endParaRPr lang="en-US" sz="4400" dirty="0">
              <a:latin typeface="Amasis MT Pro Black" panose="02040A040500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Amasis MT Pro Black" panose="02040A04050005020304" pitchFamily="18" charset="0"/>
              </a:rPr>
              <a:t>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06958907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1137</Words>
  <Application>Microsoft Office PowerPoint</Application>
  <PresentationFormat>Widescreen</PresentationFormat>
  <Paragraphs>131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Amasis MT Pro Black</vt:lpstr>
      <vt:lpstr>Aptos</vt:lpstr>
      <vt:lpstr>Arial</vt:lpstr>
      <vt:lpstr>Calibri</vt:lpstr>
      <vt:lpstr>Inter</vt:lpstr>
      <vt:lpstr>Tahoma</vt:lpstr>
      <vt:lpstr>Times New Roman</vt:lpstr>
      <vt:lpstr>Wingdings</vt:lpstr>
      <vt:lpstr>Theme1</vt:lpstr>
      <vt:lpstr>PowerPoint Presentation</vt:lpstr>
      <vt:lpstr>Outline</vt:lpstr>
      <vt:lpstr>Data Quality</vt:lpstr>
      <vt:lpstr>Data Quality</vt:lpstr>
      <vt:lpstr>Data Quality</vt:lpstr>
      <vt:lpstr>Validation rule analysis</vt:lpstr>
      <vt:lpstr>Data quality: Correctiness</vt:lpstr>
      <vt:lpstr>Data Quality: Consistency</vt:lpstr>
      <vt:lpstr>Data Quality: Entry Point</vt:lpstr>
      <vt:lpstr>Validation Rule Analysis</vt:lpstr>
      <vt:lpstr>Outlier analysis [Standard Deviation]</vt:lpstr>
      <vt:lpstr>Outlier analysis [Minimum maximum]</vt:lpstr>
      <vt:lpstr>Follow-up analysis</vt:lpstr>
      <vt:lpstr>Data Quality: Completeness and Timelines of the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INTuser</dc:creator>
  <cp:lastModifiedBy>zemene worku</cp:lastModifiedBy>
  <cp:revision>13</cp:revision>
  <dcterms:created xsi:type="dcterms:W3CDTF">2024-07-22T18:06:59Z</dcterms:created>
  <dcterms:modified xsi:type="dcterms:W3CDTF">2025-01-14T13:43:18Z</dcterms:modified>
</cp:coreProperties>
</file>