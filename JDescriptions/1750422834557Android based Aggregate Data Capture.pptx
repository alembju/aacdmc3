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0"/>
  </p:notesMasterIdLst>
  <p:sldIdLst>
    <p:sldId id="256" r:id="rId2"/>
    <p:sldId id="278" r:id="rId3"/>
    <p:sldId id="273" r:id="rId4"/>
    <p:sldId id="282" r:id="rId5"/>
    <p:sldId id="2257" r:id="rId6"/>
    <p:sldId id="2258" r:id="rId7"/>
    <p:sldId id="2259" r:id="rId8"/>
    <p:sldId id="2260" r:id="rId9"/>
    <p:sldId id="2261" r:id="rId10"/>
    <p:sldId id="2262" r:id="rId11"/>
    <p:sldId id="2263" r:id="rId12"/>
    <p:sldId id="2264" r:id="rId13"/>
    <p:sldId id="2265" r:id="rId14"/>
    <p:sldId id="2266" r:id="rId15"/>
    <p:sldId id="2267" r:id="rId16"/>
    <p:sldId id="2268" r:id="rId17"/>
    <p:sldId id="2269" r:id="rId18"/>
    <p:sldId id="28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2" autoAdjust="0"/>
    <p:restoredTop sz="94660"/>
  </p:normalViewPr>
  <p:slideViewPr>
    <p:cSldViewPr snapToGrid="0">
      <p:cViewPr varScale="1">
        <p:scale>
          <a:sx n="90" d="100"/>
          <a:sy n="90" d="100"/>
        </p:scale>
        <p:origin x="84" y="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29637A-EB61-47B2-B8B6-F9650C0D8F8D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3B0632-EB8C-4EF5-814E-0F84A1311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130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5489575"/>
            <a:ext cx="12192000" cy="13684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8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83489"/>
            <a:ext cx="10363200" cy="1470025"/>
          </a:xfrm>
        </p:spPr>
        <p:txBody>
          <a:bodyPr/>
          <a:lstStyle>
            <a:lvl1pPr algn="ctr">
              <a:defRPr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25CE0E2-B907-4C8C-B914-132D07D0454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ADCA547-C688-CCF6-F724-188C48FB81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8" y="5694660"/>
            <a:ext cx="2068160" cy="116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239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100013"/>
            <a:ext cx="12192000" cy="13684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8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5489576"/>
            <a:ext cx="12192000" cy="13684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800">
                <a:solidFill>
                  <a:schemeClr val="bg1">
                    <a:lumMod val="75000"/>
                  </a:schemeClr>
                </a:solidFill>
              </a:rPr>
              <a:t>Updated: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83489"/>
            <a:ext cx="10363200" cy="1470025"/>
          </a:xfrm>
        </p:spPr>
        <p:txBody>
          <a:bodyPr/>
          <a:lstStyle>
            <a:lvl1pPr algn="ctr">
              <a:defRPr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18400"/>
            <a:ext cx="8534400" cy="792088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25CE0E2-B907-4C8C-B914-132D07D0454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2063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32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78780"/>
            <a:ext cx="10972800" cy="4280695"/>
          </a:xfrm>
        </p:spPr>
        <p:txBody>
          <a:bodyPr/>
          <a:lstStyle>
            <a:lvl2pPr>
              <a:defRPr sz="22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hape 148">
            <a:extLst>
              <a:ext uri="{FF2B5EF4-FFF2-40B4-BE49-F238E27FC236}">
                <a16:creationId xmlns:a16="http://schemas.microsoft.com/office/drawing/2014/main" id="{88B07389-51CD-B19E-5774-AE07F2E74A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220617"/>
            <a:ext cx="12192000" cy="63738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												</a:t>
            </a:r>
            <a:fld id="{450384FD-CC80-4B09-A768-218B646411B4}" type="slidenum">
              <a:rPr lang="en-US" sz="1800" b="1" smtClean="0">
                <a:solidFill>
                  <a:schemeClr val="bg1"/>
                </a:solidFill>
              </a:rPr>
              <a:pPr algn="ctr"/>
              <a:t>‹#›</a:t>
            </a:fld>
            <a:endParaRPr lang="en-US" sz="1680" b="1" dirty="0">
              <a:solidFill>
                <a:srgbClr val="FFFFFF"/>
              </a:solidFill>
              <a:cs typeface="Calibri" pitchFamily="34" charset="0"/>
              <a:sym typeface="Calibri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446F76-87A4-263E-E536-A9A0EBE46849}"/>
              </a:ext>
            </a:extLst>
          </p:cNvPr>
          <p:cNvSpPr txBox="1"/>
          <p:nvPr userDrawn="1"/>
        </p:nvSpPr>
        <p:spPr>
          <a:xfrm>
            <a:off x="5286374" y="6292334"/>
            <a:ext cx="6534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</a:rPr>
              <a:t>Ethiopian Public Health Institute - EPHI</a:t>
            </a:r>
          </a:p>
        </p:txBody>
      </p:sp>
      <p:sp>
        <p:nvSpPr>
          <p:cNvPr id="11" name="Shape 148">
            <a:extLst>
              <a:ext uri="{FF2B5EF4-FFF2-40B4-BE49-F238E27FC236}">
                <a16:creationId xmlns:a16="http://schemas.microsoft.com/office/drawing/2014/main" id="{40A00E97-D3C3-7F3B-3ABC-0242F5272F5B}"/>
              </a:ext>
            </a:extLst>
          </p:cNvPr>
          <p:cNvSpPr>
            <a:spLocks noChangeArrowheads="1"/>
          </p:cNvSpPr>
          <p:nvPr userDrawn="1"/>
        </p:nvSpPr>
        <p:spPr bwMode="auto">
          <a:xfrm flipV="1">
            <a:off x="8193880" y="1107280"/>
            <a:ext cx="3698079" cy="8143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												</a:t>
            </a:r>
            <a:endParaRPr lang="en-US" sz="1680" b="1" dirty="0">
              <a:solidFill>
                <a:srgbClr val="FFFFFF"/>
              </a:solidFill>
              <a:cs typeface="Calibri" pitchFamily="34" charset="0"/>
              <a:sym typeface="Calibri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E44FF1-4EA3-166E-0562-D16ABBBF08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906" y="6115050"/>
            <a:ext cx="958187" cy="7399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F0B3BD-2964-9CFF-FBE9-B800EF52D46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1729" y="1"/>
            <a:ext cx="3027719" cy="1107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4857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0"/>
            <a:ext cx="10972800" cy="4359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44800" y="6356352"/>
            <a:ext cx="6197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44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Public Health Emergency Operations Center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36867" y="6481765"/>
            <a:ext cx="812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40">
                <a:solidFill>
                  <a:srgbClr val="898989"/>
                </a:solidFill>
              </a:defRPr>
            </a:lvl1pPr>
          </a:lstStyle>
          <a:p>
            <a:fld id="{264479D6-E1AD-4E5B-A4F8-2E59461ED89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Subtitle 2"/>
          <p:cNvSpPr txBox="1">
            <a:spLocks/>
          </p:cNvSpPr>
          <p:nvPr userDrawn="1"/>
        </p:nvSpPr>
        <p:spPr>
          <a:xfrm>
            <a:off x="2946400" y="6176963"/>
            <a:ext cx="5689600" cy="304800"/>
          </a:xfrm>
          <a:prstGeom prst="rect">
            <a:avLst/>
          </a:prstGeom>
        </p:spPr>
        <p:txBody>
          <a:bodyPr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200" kern="1200">
                <a:solidFill>
                  <a:schemeClr val="bg1"/>
                </a:solidFill>
                <a:latin typeface="Calibri"/>
                <a:ea typeface="+mn-ea"/>
                <a:cs typeface="Calibri"/>
                <a:sym typeface="Calibri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rPr lang="fr-FR" sz="1680">
                <a:solidFill>
                  <a:srgbClr val="FFFFFF"/>
                </a:solidFill>
                <a:ea typeface="Calibri"/>
              </a:rPr>
              <a:t>Rapid Response Teams Training</a:t>
            </a:r>
          </a:p>
        </p:txBody>
      </p:sp>
      <p:sp>
        <p:nvSpPr>
          <p:cNvPr id="9" name="Slide Number Placeholder 5"/>
          <p:cNvSpPr txBox="1">
            <a:spLocks/>
          </p:cNvSpPr>
          <p:nvPr userDrawn="1"/>
        </p:nvSpPr>
        <p:spPr>
          <a:xfrm>
            <a:off x="11480800" y="6330329"/>
            <a:ext cx="8128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/>
            <a:fld id="{450384FD-CC80-4B09-A768-218B646411B4}" type="slidenum">
              <a:rPr lang="en-US" sz="1920">
                <a:solidFill>
                  <a:schemeClr val="bg1"/>
                </a:solidFill>
              </a:rPr>
              <a:pPr eaLnBrk="1" hangingPunct="1"/>
              <a:t>‹#›</a:t>
            </a:fld>
            <a:endParaRPr lang="en-US" sz="1920">
              <a:solidFill>
                <a:schemeClr val="bg1"/>
              </a:solidFill>
            </a:endParaRPr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6EABE03E-036D-A7C5-C751-4D6AB97CF17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1919" y="92076"/>
            <a:ext cx="3135281" cy="1146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87738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7" r:id="rId3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840" b="1" kern="1200">
          <a:solidFill>
            <a:srgbClr val="002060"/>
          </a:solidFill>
          <a:latin typeface="Arial" pitchFamily="34" charset="0"/>
          <a:ea typeface="+mj-ea"/>
          <a:cs typeface="Arial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280">
          <a:solidFill>
            <a:srgbClr val="632523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280">
          <a:solidFill>
            <a:srgbClr val="632523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280">
          <a:solidFill>
            <a:srgbClr val="632523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280">
          <a:solidFill>
            <a:srgbClr val="632523"/>
          </a:solidFill>
          <a:latin typeface="Arial" charset="0"/>
          <a:cs typeface="Arial" charset="0"/>
        </a:defRPr>
      </a:lvl5pPr>
      <a:lvl6pPr marL="548640" algn="ctr" rtl="0" fontAlgn="base">
        <a:spcBef>
          <a:spcPct val="0"/>
        </a:spcBef>
        <a:spcAft>
          <a:spcPct val="0"/>
        </a:spcAft>
        <a:defRPr sz="5280">
          <a:solidFill>
            <a:srgbClr val="632523"/>
          </a:solidFill>
          <a:latin typeface="Arial" charset="0"/>
          <a:cs typeface="Arial" charset="0"/>
        </a:defRPr>
      </a:lvl6pPr>
      <a:lvl7pPr marL="1097280" algn="ctr" rtl="0" fontAlgn="base">
        <a:spcBef>
          <a:spcPct val="0"/>
        </a:spcBef>
        <a:spcAft>
          <a:spcPct val="0"/>
        </a:spcAft>
        <a:defRPr sz="5280">
          <a:solidFill>
            <a:srgbClr val="632523"/>
          </a:solidFill>
          <a:latin typeface="Arial" charset="0"/>
          <a:cs typeface="Arial" charset="0"/>
        </a:defRPr>
      </a:lvl7pPr>
      <a:lvl8pPr marL="1645920" algn="ctr" rtl="0" fontAlgn="base">
        <a:spcBef>
          <a:spcPct val="0"/>
        </a:spcBef>
        <a:spcAft>
          <a:spcPct val="0"/>
        </a:spcAft>
        <a:defRPr sz="5280">
          <a:solidFill>
            <a:srgbClr val="632523"/>
          </a:solidFill>
          <a:latin typeface="Arial" charset="0"/>
          <a:cs typeface="Arial" charset="0"/>
        </a:defRPr>
      </a:lvl8pPr>
      <a:lvl9pPr marL="2194560" algn="ctr" rtl="0" fontAlgn="base">
        <a:spcBef>
          <a:spcPct val="0"/>
        </a:spcBef>
        <a:spcAft>
          <a:spcPct val="0"/>
        </a:spcAft>
        <a:defRPr sz="5280">
          <a:solidFill>
            <a:srgbClr val="632523"/>
          </a:solidFill>
          <a:latin typeface="Arial" charset="0"/>
          <a:cs typeface="Arial" charset="0"/>
        </a:defRPr>
      </a:lvl9pPr>
    </p:titleStyle>
    <p:bodyStyle>
      <a:lvl1pPr marL="411480" indent="-41148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rgbClr val="10253F"/>
          </a:solidFill>
          <a:latin typeface="Arial" pitchFamily="34" charset="0"/>
          <a:ea typeface="+mn-ea"/>
          <a:cs typeface="Arial" pitchFamily="34" charset="0"/>
        </a:defRPr>
      </a:lvl1pPr>
      <a:lvl2pPr marL="89154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160" kern="1200">
          <a:solidFill>
            <a:srgbClr val="10253F"/>
          </a:solidFill>
          <a:latin typeface="Arial" pitchFamily="34" charset="0"/>
          <a:ea typeface="+mn-ea"/>
          <a:cs typeface="Arial" pitchFamily="34" charset="0"/>
        </a:defRPr>
      </a:lvl2pPr>
      <a:lvl3pPr marL="1371600" indent="-27432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160" kern="1200">
          <a:solidFill>
            <a:srgbClr val="10253F"/>
          </a:solidFill>
          <a:latin typeface="Arial" pitchFamily="34" charset="0"/>
          <a:ea typeface="+mn-ea"/>
          <a:cs typeface="Arial" pitchFamily="34" charset="0"/>
        </a:defRPr>
      </a:lvl3pPr>
      <a:lvl4pPr marL="1920240" indent="-27432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920" kern="1200">
          <a:solidFill>
            <a:srgbClr val="10253F"/>
          </a:solidFill>
          <a:latin typeface="Arial" pitchFamily="34" charset="0"/>
          <a:ea typeface="+mn-ea"/>
          <a:cs typeface="Arial" pitchFamily="34" charset="0"/>
        </a:defRPr>
      </a:lvl4pPr>
      <a:lvl5pPr marL="2468880" indent="-27432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920" kern="1200">
          <a:solidFill>
            <a:srgbClr val="10253F"/>
          </a:solidFill>
          <a:latin typeface="Arial" pitchFamily="34" charset="0"/>
          <a:ea typeface="+mn-ea"/>
          <a:cs typeface="Arial" pitchFamily="34" charset="0"/>
        </a:defRPr>
      </a:lvl5pPr>
      <a:lvl6pPr marL="301752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5CF58-B564-EA30-1BEA-2A122902E3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3303" y="2081905"/>
            <a:ext cx="9807268" cy="238760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accent5"/>
                </a:solidFill>
                <a:latin typeface="Arial"/>
                <a:cs typeface="Arial"/>
              </a:rPr>
              <a:t>District Health Information System (DHIS2)</a:t>
            </a:r>
            <a:br>
              <a:rPr lang="en-US" sz="4000" b="1" dirty="0">
                <a:solidFill>
                  <a:schemeClr val="accent5"/>
                </a:solidFill>
                <a:latin typeface="Arial"/>
                <a:cs typeface="Arial"/>
              </a:rPr>
            </a:br>
            <a:r>
              <a:rPr lang="en-US" sz="4000" b="1" dirty="0">
                <a:solidFill>
                  <a:schemeClr val="accent5"/>
                </a:solidFill>
                <a:latin typeface="Arial"/>
                <a:cs typeface="Arial"/>
              </a:rPr>
              <a:t> </a:t>
            </a:r>
            <a:br>
              <a:rPr lang="en-US" sz="4000" b="1" dirty="0">
                <a:solidFill>
                  <a:schemeClr val="accent5"/>
                </a:solidFill>
                <a:latin typeface="Arial"/>
                <a:cs typeface="Arial"/>
              </a:rPr>
            </a:br>
            <a:r>
              <a:rPr lang="en-US" sz="4000" dirty="0">
                <a:solidFill>
                  <a:schemeClr val="accent5"/>
                </a:solidFill>
                <a:latin typeface="Arial"/>
                <a:cs typeface="Arial"/>
              </a:rPr>
              <a:t>Android-based Data Entry</a:t>
            </a:r>
            <a:br>
              <a:rPr lang="en-US" sz="4000" dirty="0">
                <a:solidFill>
                  <a:schemeClr val="accent5"/>
                </a:solidFill>
                <a:latin typeface="Arial"/>
                <a:cs typeface="Arial"/>
              </a:rPr>
            </a:br>
            <a:br>
              <a:rPr lang="en-US" sz="4000" dirty="0">
                <a:solidFill>
                  <a:schemeClr val="accent5"/>
                </a:solidFill>
                <a:latin typeface="Arial"/>
                <a:cs typeface="Arial"/>
              </a:rPr>
            </a:br>
            <a:endParaRPr lang="en-US" sz="4000" dirty="0">
              <a:solidFill>
                <a:schemeClr val="accent5"/>
              </a:solidFill>
              <a:latin typeface="Arial"/>
              <a:cs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7D97-F778-9FBD-152A-89CC136E5BDE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2094937" y="5895716"/>
            <a:ext cx="9144000" cy="70706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fld id="{0EB57D34-7CFC-4C6D-A882-38CEEBACA698}" type="datetime3">
              <a:rPr lang="en-US" sz="3200" b="1" smtClean="0">
                <a:solidFill>
                  <a:schemeClr val="accent5"/>
                </a:solidFill>
                <a:latin typeface="Arial"/>
                <a:cs typeface="Arial"/>
              </a:rPr>
              <a:t>1 October 2024</a:t>
            </a:fld>
            <a:endParaRPr lang="en-US" sz="3200" b="1" dirty="0">
              <a:solidFill>
                <a:schemeClr val="accent5"/>
              </a:solidFill>
              <a:latin typeface="Arial"/>
              <a:cs typeface="Arial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5F4E39F-CA88-508E-3437-D3390022010B}"/>
              </a:ext>
            </a:extLst>
          </p:cNvPr>
          <p:cNvSpPr txBox="1">
            <a:spLocks/>
          </p:cNvSpPr>
          <p:nvPr/>
        </p:nvSpPr>
        <p:spPr bwMode="auto">
          <a:xfrm rot="5400000">
            <a:off x="-2678267" y="2698541"/>
            <a:ext cx="6858001" cy="147509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84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5280">
                <a:solidFill>
                  <a:srgbClr val="632523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5280">
                <a:solidFill>
                  <a:srgbClr val="632523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5280">
                <a:solidFill>
                  <a:srgbClr val="632523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5280">
                <a:solidFill>
                  <a:srgbClr val="632523"/>
                </a:solidFill>
                <a:latin typeface="Arial" charset="0"/>
                <a:cs typeface="Arial" charset="0"/>
              </a:defRPr>
            </a:lvl5pPr>
            <a:lvl6pPr marL="548640" algn="ctr" rtl="0" fontAlgn="base">
              <a:spcBef>
                <a:spcPct val="0"/>
              </a:spcBef>
              <a:spcAft>
                <a:spcPct val="0"/>
              </a:spcAft>
              <a:defRPr sz="5280">
                <a:solidFill>
                  <a:srgbClr val="632523"/>
                </a:solidFill>
                <a:latin typeface="Arial" charset="0"/>
                <a:cs typeface="Arial" charset="0"/>
              </a:defRPr>
            </a:lvl6pPr>
            <a:lvl7pPr marL="1097280" algn="ctr" rtl="0" fontAlgn="base">
              <a:spcBef>
                <a:spcPct val="0"/>
              </a:spcBef>
              <a:spcAft>
                <a:spcPct val="0"/>
              </a:spcAft>
              <a:defRPr sz="5280">
                <a:solidFill>
                  <a:srgbClr val="632523"/>
                </a:solidFill>
                <a:latin typeface="Arial" charset="0"/>
                <a:cs typeface="Arial" charset="0"/>
              </a:defRPr>
            </a:lvl7pPr>
            <a:lvl8pPr marL="1645920" algn="ctr" rtl="0" fontAlgn="base">
              <a:spcBef>
                <a:spcPct val="0"/>
              </a:spcBef>
              <a:spcAft>
                <a:spcPct val="0"/>
              </a:spcAft>
              <a:defRPr sz="5280">
                <a:solidFill>
                  <a:srgbClr val="632523"/>
                </a:solidFill>
                <a:latin typeface="Arial" charset="0"/>
                <a:cs typeface="Arial" charset="0"/>
              </a:defRPr>
            </a:lvl8pPr>
            <a:lvl9pPr marL="2194560" algn="ctr" rtl="0" fontAlgn="base">
              <a:spcBef>
                <a:spcPct val="0"/>
              </a:spcBef>
              <a:spcAft>
                <a:spcPct val="0"/>
              </a:spcAft>
              <a:defRPr sz="5280">
                <a:solidFill>
                  <a:srgbClr val="632523"/>
                </a:solidFill>
                <a:latin typeface="Arial" charset="0"/>
                <a:cs typeface="Arial" charset="0"/>
              </a:defRPr>
            </a:lvl9pPr>
          </a:lstStyle>
          <a:p>
            <a:endParaRPr lang="en-US" sz="4400" dirty="0">
              <a:latin typeface="Arial"/>
              <a:cs typeface="Arial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FA3068D-D7C1-540B-CB2B-BE8B457CFB0B}"/>
              </a:ext>
            </a:extLst>
          </p:cNvPr>
          <p:cNvSpPr txBox="1">
            <a:spLocks/>
          </p:cNvSpPr>
          <p:nvPr/>
        </p:nvSpPr>
        <p:spPr bwMode="auto">
          <a:xfrm>
            <a:off x="1634193" y="4076322"/>
            <a:ext cx="10065488" cy="1903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840" b="1" kern="1200">
                <a:solidFill>
                  <a:srgbClr val="0070C0"/>
                </a:solidFill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5280">
                <a:solidFill>
                  <a:srgbClr val="632523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5280">
                <a:solidFill>
                  <a:srgbClr val="632523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5280">
                <a:solidFill>
                  <a:srgbClr val="632523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5280">
                <a:solidFill>
                  <a:srgbClr val="632523"/>
                </a:solidFill>
                <a:latin typeface="Arial" charset="0"/>
                <a:cs typeface="Arial" charset="0"/>
              </a:defRPr>
            </a:lvl5pPr>
            <a:lvl6pPr marL="548640" algn="ctr" rtl="0" fontAlgn="base">
              <a:spcBef>
                <a:spcPct val="0"/>
              </a:spcBef>
              <a:spcAft>
                <a:spcPct val="0"/>
              </a:spcAft>
              <a:defRPr sz="5280">
                <a:solidFill>
                  <a:srgbClr val="632523"/>
                </a:solidFill>
                <a:latin typeface="Arial" charset="0"/>
                <a:cs typeface="Arial" charset="0"/>
              </a:defRPr>
            </a:lvl6pPr>
            <a:lvl7pPr marL="1097280" algn="ctr" rtl="0" fontAlgn="base">
              <a:spcBef>
                <a:spcPct val="0"/>
              </a:spcBef>
              <a:spcAft>
                <a:spcPct val="0"/>
              </a:spcAft>
              <a:defRPr sz="5280">
                <a:solidFill>
                  <a:srgbClr val="632523"/>
                </a:solidFill>
                <a:latin typeface="Arial" charset="0"/>
                <a:cs typeface="Arial" charset="0"/>
              </a:defRPr>
            </a:lvl7pPr>
            <a:lvl8pPr marL="1645920" algn="ctr" rtl="0" fontAlgn="base">
              <a:spcBef>
                <a:spcPct val="0"/>
              </a:spcBef>
              <a:spcAft>
                <a:spcPct val="0"/>
              </a:spcAft>
              <a:defRPr sz="5280">
                <a:solidFill>
                  <a:srgbClr val="632523"/>
                </a:solidFill>
                <a:latin typeface="Arial" charset="0"/>
                <a:cs typeface="Arial" charset="0"/>
              </a:defRPr>
            </a:lvl8pPr>
            <a:lvl9pPr marL="2194560" algn="ctr" rtl="0" fontAlgn="base">
              <a:spcBef>
                <a:spcPct val="0"/>
              </a:spcBef>
              <a:spcAft>
                <a:spcPct val="0"/>
              </a:spcAft>
              <a:defRPr sz="5280">
                <a:solidFill>
                  <a:srgbClr val="632523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sz="3200" b="1" dirty="0">
                <a:solidFill>
                  <a:schemeClr val="accent5"/>
                </a:solidFill>
                <a:latin typeface="Arial"/>
                <a:cs typeface="Arial"/>
              </a:rPr>
              <a:t>By </a:t>
            </a:r>
          </a:p>
          <a:p>
            <a:r>
              <a:rPr lang="en-US" sz="3200" b="1" dirty="0">
                <a:solidFill>
                  <a:schemeClr val="accent5"/>
                </a:solidFill>
                <a:latin typeface="Arial"/>
                <a:cs typeface="Arial"/>
              </a:rPr>
              <a:t>Zemene Worku</a:t>
            </a:r>
            <a:endParaRPr lang="en-US" sz="3200" b="0" dirty="0">
              <a:solidFill>
                <a:schemeClr val="accent5"/>
              </a:solidFill>
              <a:latin typeface="Arial"/>
              <a:cs typeface="Arial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7B8D63C-9492-5806-51CB-128F37454286}"/>
              </a:ext>
            </a:extLst>
          </p:cNvPr>
          <p:cNvGrpSpPr/>
          <p:nvPr/>
        </p:nvGrpSpPr>
        <p:grpSpPr>
          <a:xfrm>
            <a:off x="9168696" y="5430893"/>
            <a:ext cx="2517378" cy="1171888"/>
            <a:chOff x="9168696" y="5430893"/>
            <a:chExt cx="2517378" cy="1171888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886896F-B717-235D-DBFD-DD78F3335B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68696" y="5514800"/>
              <a:ext cx="1093261" cy="1087981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843D3B9-EA7A-ABF6-A095-7647586165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68521" y="5430893"/>
              <a:ext cx="1517553" cy="1171888"/>
            </a:xfrm>
            <a:prstGeom prst="rect">
              <a:avLst/>
            </a:prstGeom>
          </p:spPr>
        </p:pic>
      </p:grpSp>
      <p:pic>
        <p:nvPicPr>
          <p:cNvPr id="10" name="Picture 6">
            <a:extLst>
              <a:ext uri="{FF2B5EF4-FFF2-40B4-BE49-F238E27FC236}">
                <a16:creationId xmlns:a16="http://schemas.microsoft.com/office/drawing/2014/main" id="{C9EFE41B-FFC3-5DAD-9E76-47AD6E58B1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3376" y="208508"/>
            <a:ext cx="3135281" cy="1146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3748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FAE0C-1AD2-CCE0-2F86-A33EF3250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81767"/>
            <a:ext cx="10972800" cy="1143000"/>
          </a:xfrm>
        </p:spPr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24EE1-037E-1A32-8E5A-6B3E1DA9B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888" y="1452267"/>
            <a:ext cx="4862624" cy="4289314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+mj-lt"/>
              </a:rPr>
              <a:t>Download DHIS2 Android App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+mj-lt"/>
              </a:rPr>
              <a:t>Launching Android App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+mj-lt"/>
              </a:rPr>
              <a:t>Login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+mj-lt"/>
              </a:rPr>
              <a:t>Data Entry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+mj-lt"/>
              </a:rPr>
              <a:t>Sync Data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+mj-lt"/>
              </a:rPr>
              <a:t>Setting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4712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92B61-93C5-DD01-F249-E0F71C906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DHIS2 Android App data entery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EA993-BFF7-B411-0D12-1AAE36F18A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984" y="1267674"/>
            <a:ext cx="6872629" cy="4390627"/>
          </a:xfrm>
        </p:spPr>
        <p:txBody>
          <a:bodyPr/>
          <a:lstStyle/>
          <a:p>
            <a:pPr indent="-381000" eaLnBrk="1" fontAlgn="auto" hangingPunct="1">
              <a:lnSpc>
                <a:spcPct val="100000"/>
              </a:lnSpc>
              <a:spcBef>
                <a:spcPts val="1700"/>
              </a:spcBef>
              <a:buClr>
                <a:srgbClr val="333333"/>
              </a:buClr>
              <a:buSzPts val="2400"/>
              <a:buFont typeface="Wingdings" panose="05000000000000000000" pitchFamily="2" charset="2"/>
              <a:buChar char="§"/>
              <a:defRPr/>
            </a:pPr>
            <a:r>
              <a:rPr lang="en-US" kern="0" dirty="0">
                <a:solidFill>
                  <a:srgbClr val="333333"/>
                </a:solidFill>
                <a:highlight>
                  <a:srgbClr val="FFFFFF"/>
                </a:highlight>
              </a:rPr>
              <a:t>The new generation DHIS2 Android Apps integrating events and tracker data capture</a:t>
            </a:r>
          </a:p>
          <a:p>
            <a:pPr marL="30480" indent="0" eaLnBrk="1" fontAlgn="auto" hangingPunct="1">
              <a:lnSpc>
                <a:spcPct val="100000"/>
              </a:lnSpc>
              <a:spcBef>
                <a:spcPts val="1700"/>
              </a:spcBef>
              <a:buClr>
                <a:srgbClr val="333333"/>
              </a:buClr>
              <a:buSzPts val="2400"/>
              <a:buNone/>
              <a:defRPr/>
            </a:pPr>
            <a:endParaRPr lang="en-US" kern="0" dirty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81000" eaLnBrk="1" fontAlgn="auto" hangingPunct="1">
              <a:spcBef>
                <a:spcPts val="1700"/>
              </a:spcBef>
              <a:buClr>
                <a:srgbClr val="333333"/>
              </a:buClr>
              <a:buSzPts val="2400"/>
              <a:buFont typeface="Wingdings" panose="05000000000000000000" pitchFamily="2" charset="2"/>
              <a:buChar char="§"/>
              <a:defRPr/>
            </a:pPr>
            <a:r>
              <a:rPr lang="en-US" kern="0" dirty="0">
                <a:solidFill>
                  <a:srgbClr val="333333"/>
                </a:solidFill>
                <a:highlight>
                  <a:srgbClr val="FFFFFF"/>
                </a:highlight>
              </a:rPr>
              <a:t>Fully functional while offline and with more features, better user interface &amp; data protection, to improve the user experience.</a:t>
            </a:r>
          </a:p>
          <a:p>
            <a:pPr marL="30480" indent="0" eaLnBrk="1" fontAlgn="auto" hangingPunct="1">
              <a:lnSpc>
                <a:spcPct val="100000"/>
              </a:lnSpc>
              <a:spcBef>
                <a:spcPts val="1700"/>
              </a:spcBef>
              <a:buClr>
                <a:srgbClr val="333333"/>
              </a:buClr>
              <a:buSzPts val="2400"/>
              <a:buNone/>
              <a:defRPr/>
            </a:pPr>
            <a:r>
              <a:rPr lang="en-US" sz="2000" kern="0" dirty="0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</a:p>
          <a:p>
            <a:pPr indent="-381000" eaLnBrk="1" fontAlgn="auto" hangingPunct="1">
              <a:lnSpc>
                <a:spcPct val="100000"/>
              </a:lnSpc>
              <a:spcBef>
                <a:spcPts val="1700"/>
              </a:spcBef>
              <a:buClr>
                <a:srgbClr val="333333"/>
              </a:buClr>
              <a:buSzPts val="2400"/>
              <a:defRPr/>
            </a:pPr>
            <a:endParaRPr lang="en-US" sz="2000" kern="0" dirty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548640" lvl="1" indent="0">
              <a:buNone/>
            </a:pPr>
            <a:endParaRPr lang="en-US" dirty="0"/>
          </a:p>
        </p:txBody>
      </p:sp>
      <p:pic>
        <p:nvPicPr>
          <p:cNvPr id="4" name="Google Shape;114;p26">
            <a:extLst>
              <a:ext uri="{FF2B5EF4-FFF2-40B4-BE49-F238E27FC236}">
                <a16:creationId xmlns:a16="http://schemas.microsoft.com/office/drawing/2014/main" id="{B3BFE771-8575-CF74-DBF1-E78A3FE78EAF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2929" y="1267674"/>
            <a:ext cx="2732087" cy="471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54804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67718-9ED6-69DB-C2E1-A9F587D67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DHIS2 Android App - Download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85BA3-3BEB-798A-FDC2-ADA7330AAF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623" y="1366891"/>
            <a:ext cx="6223591" cy="428069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Steps to download and install DHIS2 capture: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Connect your device to internet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Go to google Play Store and type ‘DHIS2 Capture’ in search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Press Install button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When Installation is completed, you will get the DHIS2 capture app on your device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Open dhis2 capture app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10">
            <a:extLst>
              <a:ext uri="{FF2B5EF4-FFF2-40B4-BE49-F238E27FC236}">
                <a16:creationId xmlns:a16="http://schemas.microsoft.com/office/drawing/2014/main" id="{C83FE178-C532-37E9-037A-A50A99985D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8087" y="1245339"/>
            <a:ext cx="3673290" cy="3785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5831772E-4E12-CFDB-A804-788B290066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4412" y="5205467"/>
            <a:ext cx="1028700" cy="884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60384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AF6DD-3E60-3617-AE6F-19BE2C309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/>
              <a:t>DHIS2 Android App – Launching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C2363-39BF-E105-E060-0F3E994F1A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78780"/>
            <a:ext cx="5486400" cy="4280695"/>
          </a:xfrm>
        </p:spPr>
        <p:txBody>
          <a:bodyPr/>
          <a:lstStyle/>
          <a:p>
            <a:pPr marL="457200" indent="-355600">
              <a:spcBef>
                <a:spcPts val="170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Arial" panose="020B0604020202020204" pitchFamily="34" charset="0"/>
              <a:buChar char="●"/>
              <a:defRPr/>
            </a:pPr>
            <a:r>
              <a:rPr lang="en-US" sz="2400" dirty="0">
                <a:solidFill>
                  <a:srgbClr val="333333"/>
                </a:solidFill>
                <a:highlight>
                  <a:srgbClr val="FFFFFF"/>
                </a:highlight>
              </a:rPr>
              <a:t>Connect the android phone to internet (mobile data or </a:t>
            </a:r>
            <a:r>
              <a:rPr lang="en-US" sz="2400" dirty="0" err="1">
                <a:solidFill>
                  <a:srgbClr val="333333"/>
                </a:solidFill>
                <a:highlight>
                  <a:srgbClr val="FFFFFF"/>
                </a:highlight>
              </a:rPr>
              <a:t>wifi</a:t>
            </a:r>
            <a:r>
              <a:rPr lang="en-US" sz="2400" dirty="0">
                <a:solidFill>
                  <a:srgbClr val="333333"/>
                </a:solidFill>
                <a:highlight>
                  <a:srgbClr val="FFFFFF"/>
                </a:highlight>
              </a:rPr>
              <a:t>)</a:t>
            </a:r>
          </a:p>
          <a:p>
            <a:pPr marL="457200" indent="0">
              <a:spcBef>
                <a:spcPts val="17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400" dirty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indent="-355600">
              <a:spcBef>
                <a:spcPts val="170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Arial" panose="020B0604020202020204" pitchFamily="34" charset="0"/>
              <a:buChar char="●"/>
              <a:defRPr/>
            </a:pPr>
            <a:r>
              <a:rPr lang="en-US" sz="2400" dirty="0">
                <a:solidFill>
                  <a:srgbClr val="333333"/>
                </a:solidFill>
                <a:highlight>
                  <a:srgbClr val="FFFFFF"/>
                </a:highlight>
              </a:rPr>
              <a:t>Open the app and enter the </a:t>
            </a:r>
            <a:r>
              <a:rPr lang="en-US" sz="2400" dirty="0" err="1">
                <a:solidFill>
                  <a:srgbClr val="333333"/>
                </a:solidFill>
                <a:highlight>
                  <a:srgbClr val="FFFFFF"/>
                </a:highlight>
              </a:rPr>
              <a:t>url</a:t>
            </a:r>
            <a:r>
              <a:rPr lang="en-US" sz="2400" dirty="0">
                <a:solidFill>
                  <a:srgbClr val="333333"/>
                </a:solidFill>
                <a:highlight>
                  <a:srgbClr val="FFFFFF"/>
                </a:highlight>
              </a:rPr>
              <a:t>, user and password to connect to the server hosting the DHIS2</a:t>
            </a:r>
            <a:endParaRPr lang="en-US" sz="2400" dirty="0"/>
          </a:p>
        </p:txBody>
      </p:sp>
      <p:pic>
        <p:nvPicPr>
          <p:cNvPr id="4" name="Google Shape;128;p28">
            <a:extLst>
              <a:ext uri="{FF2B5EF4-FFF2-40B4-BE49-F238E27FC236}">
                <a16:creationId xmlns:a16="http://schemas.microsoft.com/office/drawing/2014/main" id="{FEA7FC33-BAF3-F2F8-88AA-4AAFAA638BF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0701" y="1286540"/>
            <a:ext cx="2492375" cy="475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39969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AF6DD-3E60-3617-AE6F-19BE2C309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/>
              <a:t>DHIS2 Android App – Login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C2363-39BF-E105-E060-0F3E994F1A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88652"/>
            <a:ext cx="5486400" cy="4280695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  <a:defRPr/>
            </a:pPr>
            <a:r>
              <a:rPr lang="en" dirty="0">
                <a:solidFill>
                  <a:srgbClr val="333333"/>
                </a:solidFill>
                <a:highlight>
                  <a:srgbClr val="FFFFFF"/>
                </a:highlight>
              </a:rPr>
              <a:t>Connect the Android device to the internet (mobile data or wifi)</a:t>
            </a:r>
            <a:endParaRPr lang="en-US" dirty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  <a:defRPr/>
            </a:pPr>
            <a:r>
              <a:rPr lang="en-US" dirty="0"/>
              <a:t>Open the dhis2 app enter the server URL, username, and password, and press </a:t>
            </a:r>
            <a:r>
              <a:rPr lang="en-US" b="1" dirty="0"/>
              <a:t>login</a:t>
            </a:r>
            <a:r>
              <a:rPr lang="en-US" dirty="0"/>
              <a:t> to connect to the server hosting the DHIS2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E112CC-D07D-6F76-F665-A34BE149D0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4131" y="1215103"/>
            <a:ext cx="3838269" cy="4895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2576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AF6DD-3E60-3617-AE6F-19BE2C309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/>
              <a:t>DHIS2 Android App - Data Entry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C2363-39BF-E105-E060-0F3E994F1A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88652"/>
            <a:ext cx="5486400" cy="4280695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  <a:defRPr/>
            </a:pPr>
            <a:r>
              <a:rPr lang="en-US" dirty="0">
                <a:solidFill>
                  <a:srgbClr val="333333"/>
                </a:solidFill>
                <a:highlight>
                  <a:srgbClr val="FFFFFF"/>
                </a:highlight>
              </a:rPr>
              <a:t>If you are from health post (HP) select  PHEM – Weekly Disease Report Form for health post</a:t>
            </a:r>
          </a:p>
          <a:p>
            <a:pPr>
              <a:buFont typeface="Wingdings" panose="05000000000000000000" pitchFamily="2" charset="2"/>
              <a:buChar char="§"/>
              <a:defRPr/>
            </a:pPr>
            <a:endParaRPr lang="en-US" dirty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>
              <a:buFont typeface="Wingdings" panose="05000000000000000000" pitchFamily="2" charset="2"/>
              <a:buChar char="§"/>
              <a:defRPr/>
            </a:pPr>
            <a:r>
              <a:rPr lang="en-US" dirty="0">
                <a:solidFill>
                  <a:srgbClr val="333333"/>
                </a:solidFill>
                <a:highlight>
                  <a:srgbClr val="FFFFFF"/>
                </a:highlight>
              </a:rPr>
              <a:t>Once you select the dataset you will get the Add        data screen</a:t>
            </a:r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CD3D64A4-8424-46B6-45F3-217FC639D8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6968" y="3303128"/>
            <a:ext cx="652197" cy="524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969900C5-2D39-D1C7-DA8B-4ACE04559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76" r="37427" b="59805"/>
          <a:stretch>
            <a:fillRect/>
          </a:stretch>
        </p:blipFill>
        <p:spPr bwMode="auto">
          <a:xfrm>
            <a:off x="7227667" y="1288652"/>
            <a:ext cx="4687887" cy="418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45029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AF6DD-3E60-3617-AE6F-19BE2C309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/>
              <a:t>DHIS2 Android App – Data Entry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C2363-39BF-E105-E060-0F3E994F1A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88652"/>
            <a:ext cx="5486400" cy="4280695"/>
          </a:xfrm>
        </p:spPr>
        <p:txBody>
          <a:bodyPr/>
          <a:lstStyle/>
          <a:p>
            <a:r>
              <a:rPr lang="en-US" altLang="en-US" dirty="0"/>
              <a:t>You will see the following screen if there is data entered previously </a:t>
            </a:r>
          </a:p>
          <a:p>
            <a:endParaRPr lang="en-US" altLang="en-US" dirty="0"/>
          </a:p>
          <a:p>
            <a:r>
              <a:rPr lang="en-US" altLang="en-US" dirty="0"/>
              <a:t>Press        button to start new data entry </a:t>
            </a:r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CD3D64A4-8424-46B6-45F3-217FC639D8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9398" y="2558848"/>
            <a:ext cx="555258" cy="4466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7">
            <a:extLst>
              <a:ext uri="{FF2B5EF4-FFF2-40B4-BE49-F238E27FC236}">
                <a16:creationId xmlns:a16="http://schemas.microsoft.com/office/drawing/2014/main" id="{5E2C2A62-27A3-CA83-37C8-9F4D17D0C5E7}"/>
              </a:ext>
            </a:extLst>
          </p:cNvPr>
          <p:cNvGrpSpPr>
            <a:grpSpLocks/>
          </p:cNvGrpSpPr>
          <p:nvPr/>
        </p:nvGrpSpPr>
        <p:grpSpPr bwMode="auto">
          <a:xfrm>
            <a:off x="7707719" y="1288652"/>
            <a:ext cx="4115686" cy="4516725"/>
            <a:chOff x="6645492" y="933794"/>
            <a:chExt cx="2999891" cy="3544297"/>
          </a:xfrm>
        </p:grpSpPr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A3DB9EB0-8C31-6093-7193-1340960D6E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97433" y="933794"/>
              <a:ext cx="2647950" cy="3448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6">
              <a:extLst>
                <a:ext uri="{FF2B5EF4-FFF2-40B4-BE49-F238E27FC236}">
                  <a16:creationId xmlns:a16="http://schemas.microsoft.com/office/drawing/2014/main" id="{10C1CD01-628F-261F-2CD2-3E17D14DCB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45492" y="3643070"/>
              <a:ext cx="2999891" cy="8350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325331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AF6DD-3E60-3617-AE6F-19BE2C309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/>
              <a:t>DHIS2 Android App – Data Entry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C2363-39BF-E105-E060-0F3E994F1A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88652"/>
            <a:ext cx="6857114" cy="4280695"/>
          </a:xfrm>
        </p:spPr>
        <p:txBody>
          <a:bodyPr/>
          <a:lstStyle/>
          <a:p>
            <a:r>
              <a:rPr lang="en-US" altLang="en-US" dirty="0"/>
              <a:t>Select reporting period and Press            to get data entry screen </a:t>
            </a: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EF9B87DC-AD36-A541-DB18-B8986795FA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0924" y="1312745"/>
            <a:ext cx="790152" cy="447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7">
            <a:extLst>
              <a:ext uri="{FF2B5EF4-FFF2-40B4-BE49-F238E27FC236}">
                <a16:creationId xmlns:a16="http://schemas.microsoft.com/office/drawing/2014/main" id="{0152DF70-9609-9516-054D-78C724106F8D}"/>
              </a:ext>
            </a:extLst>
          </p:cNvPr>
          <p:cNvGrpSpPr>
            <a:grpSpLocks/>
          </p:cNvGrpSpPr>
          <p:nvPr/>
        </p:nvGrpSpPr>
        <p:grpSpPr bwMode="auto">
          <a:xfrm>
            <a:off x="8194158" y="1288653"/>
            <a:ext cx="3721396" cy="4908970"/>
            <a:chOff x="4081462" y="1066800"/>
            <a:chExt cx="4019550" cy="4972050"/>
          </a:xfrm>
        </p:grpSpPr>
        <p:pic>
          <p:nvPicPr>
            <p:cNvPr id="10" name="Picture 4">
              <a:extLst>
                <a:ext uri="{FF2B5EF4-FFF2-40B4-BE49-F238E27FC236}">
                  <a16:creationId xmlns:a16="http://schemas.microsoft.com/office/drawing/2014/main" id="{0DB16BFF-7D4D-8BA0-B663-8DDB7DCD51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90987" y="1066800"/>
              <a:ext cx="4010025" cy="403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6">
              <a:extLst>
                <a:ext uri="{FF2B5EF4-FFF2-40B4-BE49-F238E27FC236}">
                  <a16:creationId xmlns:a16="http://schemas.microsoft.com/office/drawing/2014/main" id="{5914D7D3-4599-4BAB-2235-D1949A7A75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81462" y="4857750"/>
              <a:ext cx="4019550" cy="1181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288955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AF6DD-3E60-3617-AE6F-19BE2C309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/>
              <a:t>DHIS2 Android App – Data Entry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C2363-39BF-E105-E060-0F3E994F1A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88652"/>
            <a:ext cx="6857114" cy="4280695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b="1" dirty="0"/>
              <a:t>Data Entry screen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sz="1400" b="1" dirty="0"/>
          </a:p>
          <a:p>
            <a:pPr>
              <a:buFont typeface="Wingdings" panose="05000000000000000000" pitchFamily="2" charset="2"/>
              <a:buChar char="§"/>
              <a:defRPr/>
            </a:pPr>
            <a:r>
              <a:rPr lang="en-US" dirty="0"/>
              <a:t>Start data entry by pressing the screen </a:t>
            </a:r>
            <a:r>
              <a:rPr lang="en-US" dirty="0">
                <a:solidFill>
                  <a:srgbClr val="0070C0"/>
                </a:solidFill>
              </a:rPr>
              <a:t>next to data elements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0F2B6F8-E095-6B07-8624-02FEB077C498}"/>
              </a:ext>
            </a:extLst>
          </p:cNvPr>
          <p:cNvGrpSpPr>
            <a:grpSpLocks/>
          </p:cNvGrpSpPr>
          <p:nvPr/>
        </p:nvGrpSpPr>
        <p:grpSpPr bwMode="auto">
          <a:xfrm>
            <a:off x="8230375" y="1229832"/>
            <a:ext cx="3685178" cy="4929963"/>
            <a:chOff x="4352925" y="1290637"/>
            <a:chExt cx="3486150" cy="4983163"/>
          </a:xfrm>
        </p:grpSpPr>
        <p:pic>
          <p:nvPicPr>
            <p:cNvPr id="12" name="Picture 4">
              <a:extLst>
                <a:ext uri="{FF2B5EF4-FFF2-40B4-BE49-F238E27FC236}">
                  <a16:creationId xmlns:a16="http://schemas.microsoft.com/office/drawing/2014/main" id="{2CF73F55-44F3-E560-ADE4-0B0A475E5B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52925" y="1290637"/>
              <a:ext cx="3486150" cy="4276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Picture 6">
              <a:extLst>
                <a:ext uri="{FF2B5EF4-FFF2-40B4-BE49-F238E27FC236}">
                  <a16:creationId xmlns:a16="http://schemas.microsoft.com/office/drawing/2014/main" id="{FCA8E796-98E1-7B84-A6AC-C34F08DB48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3" r="-2"/>
            <a:stretch>
              <a:fillRect/>
            </a:stretch>
          </p:blipFill>
          <p:spPr bwMode="auto">
            <a:xfrm>
              <a:off x="4352925" y="4378325"/>
              <a:ext cx="3486150" cy="1895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BCAD0AE-A159-5159-B2B2-2A3A3C0F3C58}"/>
              </a:ext>
            </a:extLst>
          </p:cNvPr>
          <p:cNvCxnSpPr>
            <a:cxnSpLocks/>
          </p:cNvCxnSpPr>
          <p:nvPr/>
        </p:nvCxnSpPr>
        <p:spPr>
          <a:xfrm>
            <a:off x="7293935" y="2372832"/>
            <a:ext cx="2954043" cy="65811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64422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AF6DD-3E60-3617-AE6F-19BE2C309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/>
              <a:t>DHIS2 Android App – Data Entry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C2363-39BF-E105-E060-0F3E994F1A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88652"/>
            <a:ext cx="6857114" cy="4280695"/>
          </a:xfrm>
        </p:spPr>
        <p:txBody>
          <a:bodyPr/>
          <a:lstStyle/>
          <a:p>
            <a:r>
              <a:rPr lang="en-US" altLang="en-US" dirty="0"/>
              <a:t>Press the screen next to data elements and you will get blue highlighted data element and the number pad will popup</a:t>
            </a:r>
          </a:p>
          <a:p>
            <a:pPr marL="0" indent="0">
              <a:buNone/>
            </a:pPr>
            <a:endParaRPr lang="en-US" altLang="en-US" dirty="0"/>
          </a:p>
          <a:p>
            <a:r>
              <a:rPr lang="en-US" altLang="en-US" dirty="0"/>
              <a:t>Start entering data values</a:t>
            </a:r>
          </a:p>
          <a:p>
            <a:endParaRPr lang="en-US" altLang="en-US" sz="1800" dirty="0"/>
          </a:p>
          <a:p>
            <a:r>
              <a:rPr lang="en-US" altLang="en-US" dirty="0"/>
              <a:t>Press           button from number pad to move to the next text box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4" name="Picture 11">
            <a:extLst>
              <a:ext uri="{FF2B5EF4-FFF2-40B4-BE49-F238E27FC236}">
                <a16:creationId xmlns:a16="http://schemas.microsoft.com/office/drawing/2014/main" id="{C364E95F-1B35-0266-95FE-B03827A0D3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2496" y="3490237"/>
            <a:ext cx="864481" cy="572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7">
            <a:extLst>
              <a:ext uri="{FF2B5EF4-FFF2-40B4-BE49-F238E27FC236}">
                <a16:creationId xmlns:a16="http://schemas.microsoft.com/office/drawing/2014/main" id="{108985A5-5BAB-4A9D-EAB7-773838AB668F}"/>
              </a:ext>
            </a:extLst>
          </p:cNvPr>
          <p:cNvGrpSpPr>
            <a:grpSpLocks/>
          </p:cNvGrpSpPr>
          <p:nvPr/>
        </p:nvGrpSpPr>
        <p:grpSpPr bwMode="auto">
          <a:xfrm>
            <a:off x="8130363" y="1205022"/>
            <a:ext cx="3735572" cy="4961861"/>
            <a:chOff x="6494973" y="1020864"/>
            <a:chExt cx="4010026" cy="5643512"/>
          </a:xfrm>
        </p:grpSpPr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3ABFF913-813D-430C-9B83-5E1EFF2D37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94974" y="1020864"/>
              <a:ext cx="4010025" cy="3543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44CA168-4525-45F7-6830-D1E52AF546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94973" y="3949751"/>
              <a:ext cx="4010025" cy="2714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BCAD0AE-A159-5159-B2B2-2A3A3C0F3C58}"/>
              </a:ext>
            </a:extLst>
          </p:cNvPr>
          <p:cNvCxnSpPr>
            <a:cxnSpLocks/>
          </p:cNvCxnSpPr>
          <p:nvPr/>
        </p:nvCxnSpPr>
        <p:spPr>
          <a:xfrm>
            <a:off x="6648893" y="2124882"/>
            <a:ext cx="3599085" cy="90606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420E481-7066-65FA-F044-FFD2AE98E019}"/>
              </a:ext>
            </a:extLst>
          </p:cNvPr>
          <p:cNvCxnSpPr>
            <a:cxnSpLocks/>
          </p:cNvCxnSpPr>
          <p:nvPr/>
        </p:nvCxnSpPr>
        <p:spPr>
          <a:xfrm>
            <a:off x="6578009" y="4062422"/>
            <a:ext cx="4586177" cy="67261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74115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AF6DD-3E60-3617-AE6F-19BE2C309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/>
              <a:t>DHIS2 Android App – Data Entry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C2363-39BF-E105-E060-0F3E994F1A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88652"/>
            <a:ext cx="6857114" cy="4280695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  <a:defRPr/>
            </a:pPr>
            <a:r>
              <a:rPr lang="en-US" altLang="en-US" dirty="0"/>
              <a:t>Once you complete the </a:t>
            </a:r>
            <a:r>
              <a:rPr lang="en-US" altLang="en-US" b="1" dirty="0">
                <a:solidFill>
                  <a:srgbClr val="0070C0"/>
                </a:solidFill>
              </a:rPr>
              <a:t>Weekly reportable cases</a:t>
            </a:r>
            <a:r>
              <a:rPr lang="en-US" altLang="en-US" dirty="0"/>
              <a:t>, press on the </a:t>
            </a:r>
            <a:r>
              <a:rPr lang="en-US" altLang="en-US" b="1" dirty="0">
                <a:solidFill>
                  <a:srgbClr val="0070C0"/>
                </a:solidFill>
              </a:rPr>
              <a:t>Immediately reportable</a:t>
            </a:r>
            <a:r>
              <a:rPr lang="en-US" altLang="en-US" dirty="0"/>
              <a:t> tab to start data entry for immediately reportable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dirty="0">
              <a:solidFill>
                <a:srgbClr val="0070C0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64E0DCD-E34C-DBA2-A428-BF0FA7460402}"/>
              </a:ext>
            </a:extLst>
          </p:cNvPr>
          <p:cNvGrpSpPr>
            <a:grpSpLocks/>
          </p:cNvGrpSpPr>
          <p:nvPr/>
        </p:nvGrpSpPr>
        <p:grpSpPr bwMode="auto">
          <a:xfrm>
            <a:off x="8158754" y="1095154"/>
            <a:ext cx="3849687" cy="4983163"/>
            <a:chOff x="3967161" y="1090069"/>
            <a:chExt cx="4257676" cy="5305425"/>
          </a:xfrm>
        </p:grpSpPr>
        <p:pic>
          <p:nvPicPr>
            <p:cNvPr id="9" name="Picture 4">
              <a:extLst>
                <a:ext uri="{FF2B5EF4-FFF2-40B4-BE49-F238E27FC236}">
                  <a16:creationId xmlns:a16="http://schemas.microsoft.com/office/drawing/2014/main" id="{2F1E4147-3AD2-2DF3-C6F5-6CE72799E5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67161" y="1090069"/>
              <a:ext cx="4257675" cy="3400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6">
              <a:extLst>
                <a:ext uri="{FF2B5EF4-FFF2-40B4-BE49-F238E27FC236}">
                  <a16:creationId xmlns:a16="http://schemas.microsoft.com/office/drawing/2014/main" id="{466B3745-32A4-F78D-441F-08DCDD75CF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67162" y="4490494"/>
              <a:ext cx="4257675" cy="190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28AEF0E-6F1F-89AB-2E66-941425178B68}"/>
              </a:ext>
            </a:extLst>
          </p:cNvPr>
          <p:cNvSpPr/>
          <p:nvPr/>
        </p:nvSpPr>
        <p:spPr>
          <a:xfrm>
            <a:off x="10047878" y="2097342"/>
            <a:ext cx="1960562" cy="669925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420E481-7066-65FA-F044-FFD2AE98E019}"/>
              </a:ext>
            </a:extLst>
          </p:cNvPr>
          <p:cNvCxnSpPr>
            <a:cxnSpLocks/>
          </p:cNvCxnSpPr>
          <p:nvPr/>
        </p:nvCxnSpPr>
        <p:spPr>
          <a:xfrm>
            <a:off x="6379535" y="2006009"/>
            <a:ext cx="3558363" cy="56296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0">
            <a:extLst>
              <a:ext uri="{FF2B5EF4-FFF2-40B4-BE49-F238E27FC236}">
                <a16:creationId xmlns:a16="http://schemas.microsoft.com/office/drawing/2014/main" id="{60A1545B-6E8E-51C6-7607-8889ABA32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913" y="3613150"/>
            <a:ext cx="1109662" cy="827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2">
            <a:extLst>
              <a:ext uri="{FF2B5EF4-FFF2-40B4-BE49-F238E27FC236}">
                <a16:creationId xmlns:a16="http://schemas.microsoft.com/office/drawing/2014/main" id="{CA25BCC7-F049-03A2-B597-57C4F5BC51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2088" y="4719638"/>
            <a:ext cx="855662" cy="61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4">
            <a:extLst>
              <a:ext uri="{FF2B5EF4-FFF2-40B4-BE49-F238E27FC236}">
                <a16:creationId xmlns:a16="http://schemas.microsoft.com/office/drawing/2014/main" id="{8C76D683-058B-E7B7-8879-9A3481EA6B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0082" y="4719637"/>
            <a:ext cx="771525" cy="61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045579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AF6DD-3E60-3617-AE6F-19BE2C309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/>
              <a:t>DHIS2 Android App – Data Entry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C2363-39BF-E105-E060-0F3E994F1A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88652"/>
            <a:ext cx="4805916" cy="4280695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Press         to </a:t>
            </a:r>
            <a:r>
              <a:rPr lang="en-US" alt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 data quality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alt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complete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the data set</a:t>
            </a:r>
          </a:p>
          <a:p>
            <a:pPr marL="0" indent="0">
              <a:buNone/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  <a:defRPr/>
            </a:pPr>
            <a:endParaRPr lang="en-US" altLang="en-US" dirty="0"/>
          </a:p>
          <a:p>
            <a:pPr>
              <a:buFont typeface="Wingdings" panose="05000000000000000000" pitchFamily="2" charset="2"/>
              <a:buChar char="§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Press         to edit </a:t>
            </a:r>
            <a:r>
              <a:rPr lang="en-US" alt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values</a:t>
            </a:r>
          </a:p>
          <a:p>
            <a:pPr>
              <a:buFont typeface="Wingdings" panose="05000000000000000000" pitchFamily="2" charset="2"/>
              <a:buChar char="§"/>
              <a:defRPr/>
            </a:pPr>
            <a:endParaRPr lang="en-US" altLang="en-US" sz="24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  <a:defRPr/>
            </a:pPr>
            <a:endParaRPr lang="en-US" altLang="en-US" dirty="0">
              <a:solidFill>
                <a:srgbClr val="0070C0"/>
              </a:solidFill>
            </a:endParaRPr>
          </a:p>
          <a:p>
            <a:pPr>
              <a:buFont typeface="Wingdings" panose="05000000000000000000" pitchFamily="2" charset="2"/>
              <a:buChar char="§"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Press         to view information about the </a:t>
            </a:r>
            <a:r>
              <a:rPr lang="en-US" alt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set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reporting period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alt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 unit</a:t>
            </a:r>
          </a:p>
          <a:p>
            <a:pPr>
              <a:buFont typeface="Wingdings" panose="05000000000000000000" pitchFamily="2" charset="2"/>
              <a:buChar char="§"/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  <a:defRPr/>
            </a:pPr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E9B64B-539A-D907-117C-436B8E0139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054" y="1288652"/>
            <a:ext cx="623555" cy="465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FE1C17A-210C-5708-A105-4962BC51D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2054" y="3272595"/>
            <a:ext cx="496570" cy="470435"/>
          </a:xfrm>
          <a:prstGeom prst="rect">
            <a:avLst/>
          </a:prstGeom>
        </p:spPr>
      </p:pic>
      <p:pic>
        <p:nvPicPr>
          <p:cNvPr id="7" name="Picture 14">
            <a:extLst>
              <a:ext uri="{FF2B5EF4-FFF2-40B4-BE49-F238E27FC236}">
                <a16:creationId xmlns:a16="http://schemas.microsoft.com/office/drawing/2014/main" id="{FEF05D4E-8B2F-8D23-F04E-3C1676D06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561" y="4604388"/>
            <a:ext cx="623555" cy="49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4">
            <a:extLst>
              <a:ext uri="{FF2B5EF4-FFF2-40B4-BE49-F238E27FC236}">
                <a16:creationId xmlns:a16="http://schemas.microsoft.com/office/drawing/2014/main" id="{D9F7C582-3B90-64C3-C5D9-FF2562B74C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8819" y="1210340"/>
            <a:ext cx="3868737" cy="5021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2">
            <a:extLst>
              <a:ext uri="{FF2B5EF4-FFF2-40B4-BE49-F238E27FC236}">
                <a16:creationId xmlns:a16="http://schemas.microsoft.com/office/drawing/2014/main" id="{AFDACBEC-EFE2-93B9-B0C4-1F9EE18097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3719" y="1210340"/>
            <a:ext cx="2705100" cy="103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EB73C07-419F-07D0-FFBE-187E12B34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8497" y="2601432"/>
            <a:ext cx="2634623" cy="968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34E9E6E-1E7E-7034-DA2C-E39C635ACD4C}"/>
              </a:ext>
            </a:extLst>
          </p:cNvPr>
          <p:cNvSpPr/>
          <p:nvPr/>
        </p:nvSpPr>
        <p:spPr>
          <a:xfrm>
            <a:off x="7388744" y="1889790"/>
            <a:ext cx="657225" cy="350838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4AB49F1-FDF4-DDD7-AE81-5650F71FFC6B}"/>
              </a:ext>
            </a:extLst>
          </p:cNvPr>
          <p:cNvSpPr/>
          <p:nvPr/>
        </p:nvSpPr>
        <p:spPr>
          <a:xfrm>
            <a:off x="7359882" y="3218811"/>
            <a:ext cx="657225" cy="350838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8765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AF6DD-3E60-3617-AE6F-19BE2C309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/>
              <a:t>DHIS2 Android App – Data Entry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C2363-39BF-E105-E060-0F3E994F1A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88652"/>
            <a:ext cx="6857114" cy="4280695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  <a:defRPr/>
            </a:pPr>
            <a:endParaRPr lang="en-US" sz="1400" b="1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 dirty="0"/>
              <a:t>The data will be saved automatically on your device and can be synced to the server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 b="1" dirty="0"/>
              <a:t>To sync your data to the server: </a:t>
            </a:r>
          </a:p>
          <a:p>
            <a:pPr lvl="1"/>
            <a:r>
              <a:rPr lang="en-US" altLang="en-US" sz="2400" dirty="0"/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Connect to the internet</a:t>
            </a: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Press 	    </a:t>
            </a:r>
            <a:r>
              <a:rPr lang="en-US" altLang="en-US" dirty="0"/>
              <a:t>an Infront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of the name of a data set </a:t>
            </a:r>
            <a:endParaRPr lang="en-US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 </a:t>
            </a:r>
            <a:endParaRPr lang="en-US" altLang="en-US" sz="2400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8947C94A-6637-47C4-08A2-236F9CA4D8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5300" y="1212112"/>
            <a:ext cx="3714715" cy="48213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4">
            <a:extLst>
              <a:ext uri="{FF2B5EF4-FFF2-40B4-BE49-F238E27FC236}">
                <a16:creationId xmlns:a16="http://schemas.microsoft.com/office/drawing/2014/main" id="{D68D958C-5B4F-3E18-5E21-DC604DEFC9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9575" y="3986545"/>
            <a:ext cx="3752850" cy="2211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A0D2C80-050B-8CD9-99F7-F895CE766DE0}"/>
              </a:ext>
            </a:extLst>
          </p:cNvPr>
          <p:cNvSpPr/>
          <p:nvPr/>
        </p:nvSpPr>
        <p:spPr>
          <a:xfrm>
            <a:off x="7290553" y="5425456"/>
            <a:ext cx="444500" cy="608013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2D08DB6-55BD-3811-390F-592DE649C123}"/>
              </a:ext>
            </a:extLst>
          </p:cNvPr>
          <p:cNvCxnSpPr>
            <a:cxnSpLocks/>
          </p:cNvCxnSpPr>
          <p:nvPr/>
        </p:nvCxnSpPr>
        <p:spPr>
          <a:xfrm>
            <a:off x="4094916" y="5116591"/>
            <a:ext cx="3195637" cy="53498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51E266C4-5C47-D04C-7C07-31F408A635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9303" y="3295201"/>
            <a:ext cx="378026" cy="447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2888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AF6DD-3E60-3617-AE6F-19BE2C309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/>
              <a:t>Sync 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C2363-39BF-E105-E060-0F3E994F1A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88652"/>
            <a:ext cx="3189767" cy="4280695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  <a:defRPr/>
            </a:pPr>
            <a:endParaRPr lang="en-US" sz="1400" b="1" dirty="0"/>
          </a:p>
          <a:p>
            <a:pPr marL="0" indent="0">
              <a:buNone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Press </a:t>
            </a:r>
            <a:r>
              <a:rPr lang="en-US" alt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SEND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to manually sync the data to the server 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 </a:t>
            </a:r>
            <a:endParaRPr lang="en-US" altLang="en-US" sz="24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A0D2C80-050B-8CD9-99F7-F895CE766DE0}"/>
              </a:ext>
            </a:extLst>
          </p:cNvPr>
          <p:cNvSpPr/>
          <p:nvPr/>
        </p:nvSpPr>
        <p:spPr>
          <a:xfrm>
            <a:off x="7290553" y="5425456"/>
            <a:ext cx="444500" cy="608013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8" name="Group 9">
            <a:extLst>
              <a:ext uri="{FF2B5EF4-FFF2-40B4-BE49-F238E27FC236}">
                <a16:creationId xmlns:a16="http://schemas.microsoft.com/office/drawing/2014/main" id="{7124B405-1D60-F9B6-B41B-0C23D5896DCC}"/>
              </a:ext>
            </a:extLst>
          </p:cNvPr>
          <p:cNvGrpSpPr>
            <a:grpSpLocks/>
          </p:cNvGrpSpPr>
          <p:nvPr/>
        </p:nvGrpSpPr>
        <p:grpSpPr bwMode="auto">
          <a:xfrm>
            <a:off x="4021433" y="1087148"/>
            <a:ext cx="4173867" cy="5122266"/>
            <a:chOff x="1619250" y="1066800"/>
            <a:chExt cx="4610100" cy="5610157"/>
          </a:xfrm>
        </p:grpSpPr>
        <p:pic>
          <p:nvPicPr>
            <p:cNvPr id="9" name="Picture 4">
              <a:extLst>
                <a:ext uri="{FF2B5EF4-FFF2-40B4-BE49-F238E27FC236}">
                  <a16:creationId xmlns:a16="http://schemas.microsoft.com/office/drawing/2014/main" id="{DCE2C169-CD4F-84A5-C80A-0A21FE37B0B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9250" y="1066800"/>
              <a:ext cx="4610100" cy="3533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6">
              <a:extLst>
                <a:ext uri="{FF2B5EF4-FFF2-40B4-BE49-F238E27FC236}">
                  <a16:creationId xmlns:a16="http://schemas.microsoft.com/office/drawing/2014/main" id="{0EE0BB47-BDBD-AED8-C4B7-A804543619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9250" y="4109050"/>
              <a:ext cx="4610100" cy="25679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2D08DB6-55BD-3811-390F-592DE649C123}"/>
              </a:ext>
            </a:extLst>
          </p:cNvPr>
          <p:cNvCxnSpPr>
            <a:cxnSpLocks/>
          </p:cNvCxnSpPr>
          <p:nvPr/>
        </p:nvCxnSpPr>
        <p:spPr>
          <a:xfrm>
            <a:off x="2367516" y="1978030"/>
            <a:ext cx="4923037" cy="37928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Content Placeholder 11">
            <a:extLst>
              <a:ext uri="{FF2B5EF4-FFF2-40B4-BE49-F238E27FC236}">
                <a16:creationId xmlns:a16="http://schemas.microsoft.com/office/drawing/2014/main" id="{74CEBFB6-85CF-F6DA-5BD1-B8ADACB50D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5300" y="1248510"/>
            <a:ext cx="3755695" cy="3380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627703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AF6DD-3E60-3617-AE6F-19BE2C309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/>
              <a:t>DHIS2 Android App - Setting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C2363-39BF-E105-E060-0F3E994F1A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88652"/>
            <a:ext cx="3755323" cy="428069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en-US" dirty="0"/>
              <a:t>We can set period to send data to the server from </a:t>
            </a:r>
            <a:r>
              <a:rPr lang="en-US" altLang="en-US" dirty="0">
                <a:solidFill>
                  <a:srgbClr val="0070C0"/>
                </a:solidFill>
              </a:rPr>
              <a:t>Sync data</a:t>
            </a:r>
            <a:r>
              <a:rPr lang="en-US" altLang="en-US" dirty="0"/>
              <a:t> menu under the </a:t>
            </a:r>
            <a:r>
              <a:rPr lang="en-US" altLang="en-US" dirty="0">
                <a:solidFill>
                  <a:srgbClr val="0070C0"/>
                </a:solidFill>
              </a:rPr>
              <a:t>Setting</a:t>
            </a:r>
          </a:p>
          <a:p>
            <a:pPr marL="0" indent="0">
              <a:buNone/>
              <a:defRPr/>
            </a:pPr>
            <a:endParaRPr lang="en-US" altLang="en-US" dirty="0">
              <a:solidFill>
                <a:srgbClr val="0070C0"/>
              </a:solidFill>
            </a:endParaRPr>
          </a:p>
          <a:p>
            <a:pPr marL="0" indent="0">
              <a:buNone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Press         to get the data capture </a:t>
            </a:r>
            <a:r>
              <a:rPr lang="en-US" alt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Setting</a:t>
            </a:r>
          </a:p>
          <a:p>
            <a:pPr marL="0" indent="0">
              <a:buNone/>
              <a:defRPr/>
            </a:pPr>
            <a:endParaRPr lang="en-US" altLang="en-US" sz="24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  <a:defRPr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Press </a:t>
            </a:r>
            <a:r>
              <a:rPr lang="en-US" alt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setting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under Menu</a:t>
            </a:r>
          </a:p>
          <a:p>
            <a:pPr marL="0" indent="0">
              <a:buNone/>
              <a:defRPr/>
            </a:pPr>
            <a:endParaRPr lang="en-US" altLang="en-US" dirty="0">
              <a:solidFill>
                <a:srgbClr val="0070C0"/>
              </a:solidFill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b="1" dirty="0">
              <a:solidFill>
                <a:srgbClr val="0070C0"/>
              </a:solidFill>
            </a:endParaRPr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07760588-49F0-DB20-02F6-8BFC108223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3107" y="3221036"/>
            <a:ext cx="550862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9">
            <a:extLst>
              <a:ext uri="{FF2B5EF4-FFF2-40B4-BE49-F238E27FC236}">
                <a16:creationId xmlns:a16="http://schemas.microsoft.com/office/drawing/2014/main" id="{CF08D557-F924-28C9-DC3F-2C2C3B8E9E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5501" y="3210324"/>
            <a:ext cx="3363913" cy="2157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A7456D1-2AD1-D235-9FE0-94A96389D7C2}"/>
              </a:ext>
            </a:extLst>
          </p:cNvPr>
          <p:cNvSpPr/>
          <p:nvPr/>
        </p:nvSpPr>
        <p:spPr>
          <a:xfrm>
            <a:off x="4485500" y="3519081"/>
            <a:ext cx="451517" cy="464584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E55E7AA-C168-CE01-53E3-8918AB3615A7}"/>
              </a:ext>
            </a:extLst>
          </p:cNvPr>
          <p:cNvCxnSpPr>
            <a:cxnSpLocks/>
          </p:cNvCxnSpPr>
          <p:nvPr/>
        </p:nvCxnSpPr>
        <p:spPr>
          <a:xfrm>
            <a:off x="3950291" y="3751373"/>
            <a:ext cx="625475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3">
            <a:extLst>
              <a:ext uri="{FF2B5EF4-FFF2-40B4-BE49-F238E27FC236}">
                <a16:creationId xmlns:a16="http://schemas.microsoft.com/office/drawing/2014/main" id="{B9B9A52C-E11C-FFA5-C2A9-EAEA202535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0253" y="1613062"/>
            <a:ext cx="4120078" cy="3194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28AEF0E-6F1F-89AB-2E66-941425178B68}"/>
              </a:ext>
            </a:extLst>
          </p:cNvPr>
          <p:cNvSpPr/>
          <p:nvPr/>
        </p:nvSpPr>
        <p:spPr>
          <a:xfrm>
            <a:off x="10045684" y="4182925"/>
            <a:ext cx="1756455" cy="562961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420E481-7066-65FA-F044-FFD2AE98E019}"/>
              </a:ext>
            </a:extLst>
          </p:cNvPr>
          <p:cNvCxnSpPr>
            <a:cxnSpLocks/>
          </p:cNvCxnSpPr>
          <p:nvPr/>
        </p:nvCxnSpPr>
        <p:spPr>
          <a:xfrm>
            <a:off x="4004930" y="1853529"/>
            <a:ext cx="4040372" cy="103158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D88F00C0-06E5-DC27-1603-4359EAF17924}"/>
              </a:ext>
            </a:extLst>
          </p:cNvPr>
          <p:cNvSpPr txBox="1">
            <a:spLocks/>
          </p:cNvSpPr>
          <p:nvPr/>
        </p:nvSpPr>
        <p:spPr bwMode="auto">
          <a:xfrm>
            <a:off x="9063038" y="5037138"/>
            <a:ext cx="2739101" cy="917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Press to sync data automatically</a:t>
            </a:r>
            <a:endParaRPr lang="en-US" altLang="en-US" sz="24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C2881AB-2C0E-26EC-0D28-BEFC0F7C22C0}"/>
              </a:ext>
            </a:extLst>
          </p:cNvPr>
          <p:cNvCxnSpPr>
            <a:cxnSpLocks/>
          </p:cNvCxnSpPr>
          <p:nvPr/>
        </p:nvCxnSpPr>
        <p:spPr>
          <a:xfrm flipV="1">
            <a:off x="11018838" y="4745886"/>
            <a:ext cx="0" cy="46410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17725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AF6DD-3E60-3617-AE6F-19BE2C309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/>
              <a:t>DHIS2 Android App – Setting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C2363-39BF-E105-E060-0F3E994F1A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88652"/>
            <a:ext cx="6857114" cy="4280695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  <a:defRPr/>
            </a:pPr>
            <a:r>
              <a:rPr lang="en-US" altLang="en-US" dirty="0"/>
              <a:t>We can set period to send configuration information to the server from </a:t>
            </a:r>
            <a:r>
              <a:rPr lang="en-US" altLang="en-US" dirty="0">
                <a:solidFill>
                  <a:srgbClr val="0070C0"/>
                </a:solidFill>
              </a:rPr>
              <a:t>Sync configuration</a:t>
            </a:r>
            <a:r>
              <a:rPr lang="en-US" altLang="en-US" dirty="0"/>
              <a:t> menu under the </a:t>
            </a:r>
            <a:r>
              <a:rPr lang="en-US" altLang="en-US" dirty="0">
                <a:solidFill>
                  <a:srgbClr val="0070C0"/>
                </a:solidFill>
              </a:rPr>
              <a:t>Setting</a:t>
            </a:r>
          </a:p>
          <a:p>
            <a:pPr marL="0" indent="0">
              <a:buNone/>
              <a:defRPr/>
            </a:pPr>
            <a:endParaRPr lang="en-US" altLang="en-US" sz="1800" dirty="0"/>
          </a:p>
          <a:p>
            <a:pPr marL="0" indent="0">
              <a:buNone/>
              <a:defRPr/>
            </a:pPr>
            <a:endParaRPr lang="en-US" altLang="en-US" sz="1800" dirty="0"/>
          </a:p>
          <a:p>
            <a:pPr marL="0" indent="0">
              <a:buNone/>
              <a:defRPr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</a:t>
            </a:r>
          </a:p>
          <a:p>
            <a:pPr marL="0" indent="0">
              <a:buNone/>
              <a:defRPr/>
            </a:pPr>
            <a:endParaRPr lang="en-US" altLang="en-US" sz="1400" dirty="0"/>
          </a:p>
          <a:p>
            <a:pPr marL="0" indent="0">
              <a:buNone/>
              <a:defRPr/>
            </a:pP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  <a:defRPr/>
            </a:pPr>
            <a:endParaRPr lang="en-US" altLang="en-US" sz="1400" dirty="0"/>
          </a:p>
          <a:p>
            <a:pPr marL="0" indent="0">
              <a:buNone/>
              <a:defRPr/>
            </a:pP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  <a:defRPr/>
            </a:pPr>
            <a:endParaRPr lang="en-US" altLang="en-US" sz="1400" dirty="0"/>
          </a:p>
          <a:p>
            <a:pPr marL="0" indent="0">
              <a:buNone/>
              <a:defRPr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Press to sync configuration  automatically</a:t>
            </a:r>
            <a:endParaRPr lang="en-US" altLang="en-US" sz="20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sz="1400" b="1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A15E2C2-47F4-3DE2-0FB2-22A20B33CDEA}"/>
              </a:ext>
            </a:extLst>
          </p:cNvPr>
          <p:cNvGrpSpPr/>
          <p:nvPr/>
        </p:nvGrpSpPr>
        <p:grpSpPr>
          <a:xfrm>
            <a:off x="5713228" y="1393050"/>
            <a:ext cx="6166882" cy="4057650"/>
            <a:chOff x="5713228" y="1393050"/>
            <a:chExt cx="6166882" cy="4057650"/>
          </a:xfrm>
        </p:grpSpPr>
        <p:pic>
          <p:nvPicPr>
            <p:cNvPr id="4" name="Picture 8">
              <a:extLst>
                <a:ext uri="{FF2B5EF4-FFF2-40B4-BE49-F238E27FC236}">
                  <a16:creationId xmlns:a16="http://schemas.microsoft.com/office/drawing/2014/main" id="{6804816E-7920-3CC9-4C6A-F835F0D03C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08185" y="1393050"/>
              <a:ext cx="3971925" cy="405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6BCAD0AE-A159-5159-B2B2-2A3A3C0F3C58}"/>
                </a:ext>
              </a:extLst>
            </p:cNvPr>
            <p:cNvCxnSpPr>
              <a:cxnSpLocks/>
            </p:cNvCxnSpPr>
            <p:nvPr/>
          </p:nvCxnSpPr>
          <p:spPr>
            <a:xfrm>
              <a:off x="5713228" y="4940596"/>
              <a:ext cx="4081683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9A78F6B-DC29-48CA-3F3A-B19B0801F90B}"/>
                </a:ext>
              </a:extLst>
            </p:cNvPr>
            <p:cNvSpPr/>
            <p:nvPr/>
          </p:nvSpPr>
          <p:spPr>
            <a:xfrm>
              <a:off x="9894147" y="4700377"/>
              <a:ext cx="1907993" cy="559196"/>
            </a:xfrm>
            <a:prstGeom prst="roundRect">
              <a:avLst/>
            </a:prstGeom>
            <a:noFill/>
            <a:ln w="38100">
              <a:solidFill>
                <a:schemeClr val="accent6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296980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73A7C-5FCC-9686-50E5-B14CE5CE8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8382" y="2521652"/>
            <a:ext cx="6393712" cy="1143000"/>
          </a:xfrm>
        </p:spPr>
        <p:txBody>
          <a:bodyPr/>
          <a:lstStyle/>
          <a:p>
            <a:pPr algn="ctr"/>
            <a:r>
              <a:rPr lang="en-US" sz="44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76229601"/>
      </p:ext>
    </p:extLst>
  </p:cSld>
  <p:clrMapOvr>
    <a:masterClrMapping/>
  </p:clrMapOvr>
</p:sld>
</file>

<file path=ppt/theme/theme1.xml><?xml version="1.0" encoding="utf-8"?>
<a:theme xmlns:a="http://schemas.openxmlformats.org/drawingml/2006/main" name="RC 59 Template E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12087</TotalTime>
  <Words>540</Words>
  <Application>Microsoft Office PowerPoint</Application>
  <PresentationFormat>Widescreen</PresentationFormat>
  <Paragraphs>92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Wingdings</vt:lpstr>
      <vt:lpstr>RC 59 Template EN</vt:lpstr>
      <vt:lpstr>District Health Information System (DHIS2)   Android-based Data Entry  </vt:lpstr>
      <vt:lpstr>Outline</vt:lpstr>
      <vt:lpstr>DHIS2 Android App data entery</vt:lpstr>
      <vt:lpstr>DHIS2 Android App - Download </vt:lpstr>
      <vt:lpstr>DHIS2 Android App – Launching </vt:lpstr>
      <vt:lpstr>DHIS2 Android App – Login</vt:lpstr>
      <vt:lpstr>DHIS2 Android App - Data Entry </vt:lpstr>
      <vt:lpstr>DHIS2 Android App – Data Entry</vt:lpstr>
      <vt:lpstr>DHIS2 Android App – Data Entry</vt:lpstr>
      <vt:lpstr>DHIS2 Android App – Data Entry</vt:lpstr>
      <vt:lpstr>DHIS2 Android App – Data Entry</vt:lpstr>
      <vt:lpstr>DHIS2 Android App – Data Entry</vt:lpstr>
      <vt:lpstr>DHIS2 Android App – Data Entry</vt:lpstr>
      <vt:lpstr>DHIS2 Android App – Data Entry</vt:lpstr>
      <vt:lpstr>Sync Data</vt:lpstr>
      <vt:lpstr>DHIS2 Android App - Setting </vt:lpstr>
      <vt:lpstr>DHIS2 Android App – Setting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Enhancing functionality and establishment of fully functional Public Health Emergency Operation Centers in Ethiopia</dc:title>
  <dc:creator>Adisu Daba Fufa</dc:creator>
  <cp:lastModifiedBy>zemene worku</cp:lastModifiedBy>
  <cp:revision>110</cp:revision>
  <dcterms:created xsi:type="dcterms:W3CDTF">2024-04-16T16:17:58Z</dcterms:created>
  <dcterms:modified xsi:type="dcterms:W3CDTF">2024-10-01T08:25:02Z</dcterms:modified>
</cp:coreProperties>
</file>