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588" r:id="rId2"/>
    <p:sldId id="690" r:id="rId3"/>
    <p:sldId id="589" r:id="rId4"/>
    <p:sldId id="590" r:id="rId5"/>
    <p:sldId id="722" r:id="rId6"/>
    <p:sldId id="591" r:id="rId7"/>
    <p:sldId id="592" r:id="rId8"/>
    <p:sldId id="593" r:id="rId9"/>
    <p:sldId id="594" r:id="rId10"/>
    <p:sldId id="595" r:id="rId11"/>
    <p:sldId id="596" r:id="rId12"/>
    <p:sldId id="597" r:id="rId13"/>
    <p:sldId id="598" r:id="rId14"/>
    <p:sldId id="599" r:id="rId15"/>
    <p:sldId id="495" r:id="rId16"/>
    <p:sldId id="600" r:id="rId17"/>
    <p:sldId id="602" r:id="rId18"/>
    <p:sldId id="601" r:id="rId19"/>
    <p:sldId id="603" r:id="rId20"/>
    <p:sldId id="604" r:id="rId21"/>
    <p:sldId id="605" r:id="rId22"/>
    <p:sldId id="606" r:id="rId23"/>
    <p:sldId id="607" r:id="rId24"/>
    <p:sldId id="609" r:id="rId25"/>
    <p:sldId id="610" r:id="rId26"/>
    <p:sldId id="611" r:id="rId27"/>
    <p:sldId id="612" r:id="rId28"/>
    <p:sldId id="613" r:id="rId29"/>
    <p:sldId id="614" r:id="rId30"/>
    <p:sldId id="615" r:id="rId31"/>
    <p:sldId id="72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5" autoAdjust="0"/>
    <p:restoredTop sz="94660"/>
  </p:normalViewPr>
  <p:slideViewPr>
    <p:cSldViewPr snapToGrid="0">
      <p:cViewPr varScale="1">
        <p:scale>
          <a:sx n="93" d="100"/>
          <a:sy n="93" d="100"/>
        </p:scale>
        <p:origin x="88" y="1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D7AA1-C63D-4CCE-8A16-74A20F3B2C8D}" type="datetimeFigureOut">
              <a:rPr lang="en-US" smtClean="0"/>
              <a:t>3/11/2025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E6846-1C18-44D5-B4E1-A793D057A8EC}" type="slidenum">
              <a:rPr lang="en-US" smtClean="0"/>
              <a:t>‹#›</a:t>
            </a:fld>
            <a:endParaRPr lang="en-US"/>
          </a:p>
        </p:txBody>
      </p:sp>
    </p:spTree>
    <p:extLst>
      <p:ext uri="{BB962C8B-B14F-4D97-AF65-F5344CB8AC3E}">
        <p14:creationId xmlns:p14="http://schemas.microsoft.com/office/powerpoint/2010/main" val="74836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3BA3B7B6-42BC-4E27-B08B-114CA8DECD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48F7358F-072E-43C7-842E-69927D35AC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172" name="Slide Number Placeholder 3">
            <a:extLst>
              <a:ext uri="{FF2B5EF4-FFF2-40B4-BE49-F238E27FC236}">
                <a16:creationId xmlns:a16="http://schemas.microsoft.com/office/drawing/2014/main" id="{B20BF48D-273B-4CC8-8020-78722ABB45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C7A05AC-C757-4E4F-B838-5C8CE67B346E}"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23154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descr="C:\Documents and Settings\modig\Desktop\EHNRI pictures March 2012\IMG_0988.jpg">
            <a:extLst>
              <a:ext uri="{FF2B5EF4-FFF2-40B4-BE49-F238E27FC236}">
                <a16:creationId xmlns:a16="http://schemas.microsoft.com/office/drawing/2014/main" id="{77C77A3D-C82E-490E-BD5A-A4338FC39044}"/>
              </a:ext>
            </a:extLst>
          </p:cNvPr>
          <p:cNvPicPr>
            <a:picLocks noChangeAspect="1" noChangeArrowheads="1"/>
          </p:cNvPicPr>
          <p:nvPr/>
        </p:nvPicPr>
        <p:blipFill>
          <a:blip r:embed="rId2" cstate="print"/>
          <a:srcRect t="10780"/>
          <a:stretch>
            <a:fillRect/>
          </a:stretch>
        </p:blipFill>
        <p:spPr bwMode="auto">
          <a:xfrm>
            <a:off x="1930400" y="1635826"/>
            <a:ext cx="7721600" cy="3393375"/>
          </a:xfrm>
          <a:prstGeom prst="rect">
            <a:avLst/>
          </a:prstGeom>
          <a:ln>
            <a:noFill/>
          </a:ln>
          <a:effectLst>
            <a:softEdge rad="112500"/>
          </a:effectLst>
        </p:spPr>
      </p:pic>
      <p:sp>
        <p:nvSpPr>
          <p:cNvPr id="5" name="Subtitle 8">
            <a:extLst>
              <a:ext uri="{FF2B5EF4-FFF2-40B4-BE49-F238E27FC236}">
                <a16:creationId xmlns:a16="http://schemas.microsoft.com/office/drawing/2014/main" id="{7D908DDF-C91F-4E72-9AF9-142613EAFD8E}"/>
              </a:ext>
            </a:extLst>
          </p:cNvPr>
          <p:cNvSpPr>
            <a:spLocks noGrp="1"/>
          </p:cNvSpPr>
          <p:nvPr/>
        </p:nvSpPr>
        <p:spPr>
          <a:xfrm>
            <a:off x="4775200" y="2590800"/>
            <a:ext cx="2133600" cy="3048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fontAlgn="auto">
              <a:spcAft>
                <a:spcPts val="0"/>
              </a:spcAft>
              <a:buFont typeface="Arial" pitchFamily="34" charset="0"/>
              <a:buNone/>
              <a:defRPr/>
            </a:pPr>
            <a:r>
              <a:rPr lang="en-US" sz="900" b="1" dirty="0">
                <a:ln w="12700">
                  <a:solidFill>
                    <a:schemeClr val="bg1"/>
                  </a:solidFill>
                  <a:prstDash val="solid"/>
                </a:ln>
                <a:solidFill>
                  <a:schemeClr val="bg1"/>
                </a:solidFill>
                <a:effectLst>
                  <a:outerShdw blurRad="41275" dist="20320" dir="1800000" algn="tl" rotWithShape="0">
                    <a:srgbClr val="000000">
                      <a:alpha val="40000"/>
                    </a:srgbClr>
                  </a:outerShdw>
                </a:effectLst>
              </a:rPr>
              <a:t>Ethiopian Public Health Institute</a:t>
            </a:r>
          </a:p>
        </p:txBody>
      </p:sp>
      <p:grpSp>
        <p:nvGrpSpPr>
          <p:cNvPr id="6" name="Group 12">
            <a:extLst>
              <a:ext uri="{FF2B5EF4-FFF2-40B4-BE49-F238E27FC236}">
                <a16:creationId xmlns:a16="http://schemas.microsoft.com/office/drawing/2014/main" id="{A7BBEBB5-FC6E-4409-A292-7299FBCB372A}"/>
              </a:ext>
            </a:extLst>
          </p:cNvPr>
          <p:cNvGrpSpPr>
            <a:grpSpLocks/>
          </p:cNvGrpSpPr>
          <p:nvPr/>
        </p:nvGrpSpPr>
        <p:grpSpPr bwMode="auto">
          <a:xfrm>
            <a:off x="5384800" y="990600"/>
            <a:ext cx="1524000" cy="1143000"/>
            <a:chOff x="107718225" y="107346750"/>
            <a:chExt cx="2705100" cy="3430905"/>
          </a:xfrm>
        </p:grpSpPr>
        <p:sp>
          <p:nvSpPr>
            <p:cNvPr id="7" name="Oval 6">
              <a:extLst>
                <a:ext uri="{FF2B5EF4-FFF2-40B4-BE49-F238E27FC236}">
                  <a16:creationId xmlns:a16="http://schemas.microsoft.com/office/drawing/2014/main" id="{3598B1EE-6E46-45FA-B778-430705B580F1}"/>
                </a:ext>
              </a:extLst>
            </p:cNvPr>
            <p:cNvSpPr>
              <a:spLocks noChangeArrowheads="1"/>
            </p:cNvSpPr>
            <p:nvPr userDrawn="1"/>
          </p:nvSpPr>
          <p:spPr bwMode="auto">
            <a:xfrm>
              <a:off x="107718225" y="107346750"/>
              <a:ext cx="2705100" cy="3430905"/>
            </a:xfrm>
            <a:prstGeom prst="ellipse">
              <a:avLst/>
            </a:prstGeom>
            <a:solidFill>
              <a:srgbClr val="FFFFFF"/>
            </a:solidFill>
            <a:ln w="38100" cmpd="dbl" algn="ctr">
              <a:solidFill>
                <a:srgbClr val="000000"/>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pic>
          <p:nvPicPr>
            <p:cNvPr id="8" name="Picture 10" descr="EHNRI Logo Final 1">
              <a:extLst>
                <a:ext uri="{FF2B5EF4-FFF2-40B4-BE49-F238E27FC236}">
                  <a16:creationId xmlns:a16="http://schemas.microsoft.com/office/drawing/2014/main" id="{A105A433-1EDC-4A5E-9CEE-548BF1AD765A}"/>
                </a:ext>
              </a:extLst>
            </p:cNvPr>
            <p:cNvPicPr>
              <a:picLocks noChangeAspect="1" noChangeArrowheads="1"/>
            </p:cNvPicPr>
            <p:nvPr userDrawn="1"/>
          </p:nvPicPr>
          <p:blipFill>
            <a:blip r:embed="rId3">
              <a:lum contrast="42000"/>
              <a:extLst>
                <a:ext uri="{28A0092B-C50C-407E-A947-70E740481C1C}">
                  <a14:useLocalDpi xmlns:a14="http://schemas.microsoft.com/office/drawing/2010/main" val="0"/>
                </a:ext>
              </a:extLst>
            </a:blip>
            <a:srcRect/>
            <a:stretch>
              <a:fillRect/>
            </a:stretch>
          </p:blipFill>
          <p:spPr bwMode="auto">
            <a:xfrm>
              <a:off x="108319356" y="108069044"/>
              <a:ext cx="1562949" cy="223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WordArt 5">
              <a:extLst>
                <a:ext uri="{FF2B5EF4-FFF2-40B4-BE49-F238E27FC236}">
                  <a16:creationId xmlns:a16="http://schemas.microsoft.com/office/drawing/2014/main" id="{E8468171-0AD8-4BA4-B554-000F39653483}"/>
                </a:ext>
              </a:extLst>
            </p:cNvPr>
            <p:cNvSpPr>
              <a:spLocks noChangeArrowheads="1" noChangeShapeType="1" noTextEdit="1"/>
            </p:cNvSpPr>
            <p:nvPr userDrawn="1"/>
          </p:nvSpPr>
          <p:spPr bwMode="auto">
            <a:xfrm>
              <a:off x="107921425" y="108083350"/>
              <a:ext cx="2287270" cy="2400300"/>
            </a:xfrm>
            <a:prstGeom prst="rect">
              <a:avLst/>
            </a:prstGeom>
          </p:spPr>
          <p:txBody>
            <a:bodyPr spcFirstLastPara="1" wrap="none" fromWordArt="1">
              <a:prstTxWarp prst="textArchDown">
                <a:avLst>
                  <a:gd name="adj" fmla="val 0"/>
                </a:avLst>
              </a:prstTxWarp>
            </a:bodyPr>
            <a:lstStyle/>
            <a:p>
              <a:pPr algn="ctr"/>
              <a:r>
                <a:rPr lang="en-US" sz="1800" b="1" kern="10">
                  <a:ln w="9525" algn="ctr">
                    <a:solidFill>
                      <a:srgbClr val="000000"/>
                    </a:solidFill>
                    <a:round/>
                    <a:headEnd/>
                    <a:tailEnd/>
                  </a:ln>
                  <a:solidFill>
                    <a:srgbClr val="000000"/>
                  </a:solidFill>
                  <a:latin typeface="Times New Roman" panose="02020603050405020304" pitchFamily="18" charset="0"/>
                  <a:cs typeface="Times New Roman" panose="02020603050405020304" pitchFamily="18" charset="0"/>
                </a:rPr>
                <a:t>Ethiopian Public Health Institute </a:t>
              </a:r>
            </a:p>
          </p:txBody>
        </p:sp>
        <p:sp>
          <p:nvSpPr>
            <p:cNvPr id="10" name="AutoShape 6">
              <a:extLst>
                <a:ext uri="{FF2B5EF4-FFF2-40B4-BE49-F238E27FC236}">
                  <a16:creationId xmlns:a16="http://schemas.microsoft.com/office/drawing/2014/main" id="{701BF3B9-F11D-4656-AB2D-03E34F56BE14}"/>
                </a:ext>
              </a:extLst>
            </p:cNvPr>
            <p:cNvSpPr>
              <a:spLocks noChangeArrowheads="1"/>
            </p:cNvSpPr>
            <p:nvPr userDrawn="1"/>
          </p:nvSpPr>
          <p:spPr bwMode="auto">
            <a:xfrm>
              <a:off x="107868508" y="108871597"/>
              <a:ext cx="105198" cy="104833"/>
            </a:xfrm>
            <a:prstGeom prst="star5">
              <a:avLst/>
            </a:prstGeom>
            <a:solidFill>
              <a:srgbClr val="000000"/>
            </a:solidFill>
            <a:ln w="9525" algn="ctr">
              <a:solidFill>
                <a:srgbClr val="000000"/>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sp>
          <p:nvSpPr>
            <p:cNvPr id="11" name="AutoShape 7">
              <a:extLst>
                <a:ext uri="{FF2B5EF4-FFF2-40B4-BE49-F238E27FC236}">
                  <a16:creationId xmlns:a16="http://schemas.microsoft.com/office/drawing/2014/main" id="{F61223C2-07C1-43B3-BC40-80CA5F847737}"/>
                </a:ext>
              </a:extLst>
            </p:cNvPr>
            <p:cNvSpPr>
              <a:spLocks noChangeArrowheads="1"/>
            </p:cNvSpPr>
            <p:nvPr userDrawn="1"/>
          </p:nvSpPr>
          <p:spPr bwMode="auto">
            <a:xfrm>
              <a:off x="110160329" y="108871597"/>
              <a:ext cx="105198" cy="104833"/>
            </a:xfrm>
            <a:prstGeom prst="star5">
              <a:avLst/>
            </a:prstGeom>
            <a:solidFill>
              <a:srgbClr val="000000"/>
            </a:solidFill>
            <a:ln w="9525" algn="ctr">
              <a:solidFill>
                <a:srgbClr val="000000"/>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sp>
          <p:nvSpPr>
            <p:cNvPr id="12" name="WordArt 8">
              <a:extLst>
                <a:ext uri="{FF2B5EF4-FFF2-40B4-BE49-F238E27FC236}">
                  <a16:creationId xmlns:a16="http://schemas.microsoft.com/office/drawing/2014/main" id="{4A46C48E-CB3D-4C02-B39F-3A3DD7CD8677}"/>
                </a:ext>
              </a:extLst>
            </p:cNvPr>
            <p:cNvSpPr>
              <a:spLocks noChangeArrowheads="1" noChangeShapeType="1" noTextEdit="1"/>
            </p:cNvSpPr>
            <p:nvPr userDrawn="1"/>
          </p:nvSpPr>
          <p:spPr bwMode="auto">
            <a:xfrm>
              <a:off x="107978575" y="107588050"/>
              <a:ext cx="2171700" cy="2241550"/>
            </a:xfrm>
            <a:prstGeom prst="rect">
              <a:avLst/>
            </a:prstGeom>
          </p:spPr>
          <p:txBody>
            <a:bodyPr spcFirstLastPara="1" wrap="none" fromWordArt="1">
              <a:prstTxWarp prst="textArchUp">
                <a:avLst>
                  <a:gd name="adj" fmla="val 10800004"/>
                </a:avLst>
              </a:prstTxWarp>
            </a:bodyPr>
            <a:lstStyle/>
            <a:p>
              <a:pPr algn="ctr"/>
              <a:r>
                <a:rPr lang="am-ET" sz="1800" kern="10">
                  <a:ln w="9525" algn="ctr">
                    <a:solidFill>
                      <a:srgbClr val="000000"/>
                    </a:solidFill>
                    <a:round/>
                    <a:headEnd/>
                    <a:tailEnd/>
                  </a:ln>
                  <a:solidFill>
                    <a:srgbClr val="000000"/>
                  </a:solidFill>
                  <a:latin typeface="+mn-lt"/>
                  <a:ea typeface="+mn-lt"/>
                  <a:cs typeface="+mn-lt"/>
                </a:rPr>
                <a:t>የኢትዮጵያ የሕብረተሰብ ጤና ኢንስቲትዩት</a:t>
              </a:r>
              <a:endParaRPr lang="en-US" sz="1800" kern="10">
                <a:ln w="9525" algn="ctr">
                  <a:solidFill>
                    <a:srgbClr val="000000"/>
                  </a:solidFill>
                  <a:round/>
                  <a:headEnd/>
                  <a:tailEnd/>
                </a:ln>
                <a:solidFill>
                  <a:srgbClr val="000000"/>
                </a:solidFill>
                <a:latin typeface="+mn-lt"/>
                <a:ea typeface="+mn-lt"/>
                <a:cs typeface="+mn-lt"/>
              </a:endParaRPr>
            </a:p>
          </p:txBody>
        </p:sp>
      </p:grpSp>
      <p:sp>
        <p:nvSpPr>
          <p:cNvPr id="2" name="Title 1"/>
          <p:cNvSpPr>
            <a:spLocks noGrp="1"/>
          </p:cNvSpPr>
          <p:nvPr>
            <p:ph type="ctrTitle"/>
          </p:nvPr>
        </p:nvSpPr>
        <p:spPr>
          <a:xfrm>
            <a:off x="914400" y="1"/>
            <a:ext cx="10363200" cy="1470025"/>
          </a:xfrm>
        </p:spPr>
        <p:txBody>
          <a:bodyPr/>
          <a:lstStyle/>
          <a:p>
            <a:r>
              <a:rPr lang="en-US"/>
              <a:t>Click to edit Master title style</a:t>
            </a:r>
          </a:p>
        </p:txBody>
      </p:sp>
      <p:sp>
        <p:nvSpPr>
          <p:cNvPr id="3" name="Subtitle 2"/>
          <p:cNvSpPr>
            <a:spLocks noGrp="1"/>
          </p:cNvSpPr>
          <p:nvPr>
            <p:ph type="subTitle" idx="1"/>
          </p:nvPr>
        </p:nvSpPr>
        <p:spPr>
          <a:xfrm>
            <a:off x="2353732" y="5334000"/>
            <a:ext cx="7620000" cy="990600"/>
          </a:xfrm>
        </p:spPr>
        <p:txBody>
          <a:bodyPr/>
          <a:lstStyle>
            <a:lvl1pPr marL="0" indent="0" algn="ctr">
              <a:buNone/>
              <a:defRPr>
                <a:solidFill>
                  <a:schemeClr val="accent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54924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CC9ED23-7E87-4B1F-94ED-C23C0304F047}"/>
              </a:ext>
            </a:extLst>
          </p:cNvPr>
          <p:cNvSpPr txBox="1">
            <a:spLocks/>
          </p:cNvSpPr>
          <p:nvPr/>
        </p:nvSpPr>
        <p:spPr>
          <a:xfrm rot="5400000">
            <a:off x="5753100" y="419100"/>
            <a:ext cx="685800" cy="12192000"/>
          </a:xfrm>
          <a:prstGeom prst="rect">
            <a:avLst/>
          </a:prstGeom>
          <a:solidFill>
            <a:srgbClr val="00B0F0"/>
          </a:solidFill>
          <a:ln>
            <a:solidFill>
              <a:srgbClr val="5887C0"/>
            </a:solidFill>
          </a:ln>
          <a:effectLst>
            <a:glow rad="228600">
              <a:schemeClr val="accent1">
                <a:satMod val="175000"/>
                <a:alpha val="40000"/>
              </a:schemeClr>
            </a:glow>
            <a:innerShdw blurRad="63500" dist="50800" dir="18900000">
              <a:prstClr val="black">
                <a:alpha val="50000"/>
              </a:prstClr>
            </a:innerShdw>
            <a:softEdge rad="12700"/>
          </a:effectLst>
          <a:scene3d>
            <a:camera prst="obliqueBottomLeft"/>
            <a:lightRig rig="threePt" dir="t"/>
          </a:scene3d>
        </p:spPr>
        <p:style>
          <a:lnRef idx="1">
            <a:schemeClr val="accent1"/>
          </a:lnRef>
          <a:fillRef idx="2">
            <a:schemeClr val="accent1"/>
          </a:fillRef>
          <a:effectRef idx="1">
            <a:schemeClr val="accent1"/>
          </a:effectRef>
          <a:fontRef idx="minor">
            <a:schemeClr val="dk1"/>
          </a:fontRef>
        </p:style>
        <p:txBody>
          <a:bodyPr>
            <a:normAutofit/>
          </a:bodyPr>
          <a:lstStyle/>
          <a:p>
            <a:pPr algn="ctr" eaLnBrk="1" fontAlgn="auto" hangingPunct="1">
              <a:spcBef>
                <a:spcPct val="20000"/>
              </a:spcBef>
              <a:spcAft>
                <a:spcPts val="0"/>
              </a:spcAft>
              <a:buFont typeface="Arial" pitchFamily="34" charset="0"/>
              <a:buNone/>
              <a:defRPr/>
            </a:pP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Subtitle 8">
            <a:extLst>
              <a:ext uri="{FF2B5EF4-FFF2-40B4-BE49-F238E27FC236}">
                <a16:creationId xmlns:a16="http://schemas.microsoft.com/office/drawing/2014/main" id="{3936FF9E-ECE5-423E-A8B4-7F2FA25A14F7}"/>
              </a:ext>
            </a:extLst>
          </p:cNvPr>
          <p:cNvSpPr txBox="1">
            <a:spLocks/>
          </p:cNvSpPr>
          <p:nvPr/>
        </p:nvSpPr>
        <p:spPr>
          <a:xfrm>
            <a:off x="7924800" y="6172200"/>
            <a:ext cx="2946400" cy="685800"/>
          </a:xfrm>
          <a:prstGeom prst="rect">
            <a:avLst/>
          </a:prstGeom>
        </p:spPr>
        <p:txBody>
          <a:bodyPr>
            <a:normAutofit fontScale="70000" lnSpcReduction="20000"/>
          </a:bodyPr>
          <a:lstStyle/>
          <a:p>
            <a:pPr marL="342900" indent="-342900" algn="r" eaLnBrk="1" fontAlgn="auto" hangingPunct="1">
              <a:spcBef>
                <a:spcPct val="20000"/>
              </a:spcBef>
              <a:spcAft>
                <a:spcPts val="0"/>
              </a:spcAft>
              <a:defRPr/>
            </a:pP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The Ethiopian Public Health  Institute</a:t>
            </a:r>
          </a:p>
        </p:txBody>
      </p:sp>
      <p:cxnSp>
        <p:nvCxnSpPr>
          <p:cNvPr id="6" name="Straight Connector 5">
            <a:extLst>
              <a:ext uri="{FF2B5EF4-FFF2-40B4-BE49-F238E27FC236}">
                <a16:creationId xmlns:a16="http://schemas.microsoft.com/office/drawing/2014/main" id="{460E5D46-0089-4C89-B1F1-FAA92EC74BE1}"/>
              </a:ext>
            </a:extLst>
          </p:cNvPr>
          <p:cNvCxnSpPr/>
          <p:nvPr/>
        </p:nvCxnSpPr>
        <p:spPr>
          <a:xfrm>
            <a:off x="622300" y="914400"/>
            <a:ext cx="11074400" cy="1588"/>
          </a:xfrm>
          <a:prstGeom prst="line">
            <a:avLst/>
          </a:prstGeom>
        </p:spPr>
        <p:style>
          <a:lnRef idx="3">
            <a:schemeClr val="accent5"/>
          </a:lnRef>
          <a:fillRef idx="0">
            <a:schemeClr val="accent5"/>
          </a:fillRef>
          <a:effectRef idx="2">
            <a:schemeClr val="accent5"/>
          </a:effectRef>
          <a:fontRef idx="minor">
            <a:schemeClr val="tx1"/>
          </a:fontRef>
        </p:style>
      </p:cxnSp>
      <p:grpSp>
        <p:nvGrpSpPr>
          <p:cNvPr id="7" name="Group 2">
            <a:extLst>
              <a:ext uri="{FF2B5EF4-FFF2-40B4-BE49-F238E27FC236}">
                <a16:creationId xmlns:a16="http://schemas.microsoft.com/office/drawing/2014/main" id="{427F6546-9D99-43AB-A182-78D0E4F79ED5}"/>
              </a:ext>
            </a:extLst>
          </p:cNvPr>
          <p:cNvGrpSpPr>
            <a:grpSpLocks/>
          </p:cNvGrpSpPr>
          <p:nvPr/>
        </p:nvGrpSpPr>
        <p:grpSpPr bwMode="auto">
          <a:xfrm>
            <a:off x="10972800" y="6172200"/>
            <a:ext cx="711200" cy="533400"/>
            <a:chOff x="107718225" y="107346750"/>
            <a:chExt cx="2705100" cy="3430905"/>
          </a:xfrm>
        </p:grpSpPr>
        <p:sp>
          <p:nvSpPr>
            <p:cNvPr id="8" name="Oval 3">
              <a:extLst>
                <a:ext uri="{FF2B5EF4-FFF2-40B4-BE49-F238E27FC236}">
                  <a16:creationId xmlns:a16="http://schemas.microsoft.com/office/drawing/2014/main" id="{C8E0279D-41F5-4691-8D60-E163024B8A37}"/>
                </a:ext>
              </a:extLst>
            </p:cNvPr>
            <p:cNvSpPr>
              <a:spLocks noChangeArrowheads="1"/>
            </p:cNvSpPr>
            <p:nvPr/>
          </p:nvSpPr>
          <p:spPr bwMode="auto">
            <a:xfrm>
              <a:off x="107718225" y="107346750"/>
              <a:ext cx="2705100" cy="3430905"/>
            </a:xfrm>
            <a:prstGeom prst="ellipse">
              <a:avLst/>
            </a:prstGeom>
            <a:solidFill>
              <a:srgbClr val="FFFFFF"/>
            </a:solidFill>
            <a:ln w="38100" cmpd="dbl" algn="ctr">
              <a:solidFill>
                <a:srgbClr val="000000"/>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9" name="Picture 4" descr="EHNRI Logo Final 1">
              <a:extLst>
                <a:ext uri="{FF2B5EF4-FFF2-40B4-BE49-F238E27FC236}">
                  <a16:creationId xmlns:a16="http://schemas.microsoft.com/office/drawing/2014/main" id="{6C984292-5AC9-4FA8-8162-F1BE49262AF3}"/>
                </a:ext>
              </a:extLst>
            </p:cNvPr>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108319356" y="108069044"/>
              <a:ext cx="1562949" cy="223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WordArt 5">
              <a:extLst>
                <a:ext uri="{FF2B5EF4-FFF2-40B4-BE49-F238E27FC236}">
                  <a16:creationId xmlns:a16="http://schemas.microsoft.com/office/drawing/2014/main" id="{E46ED308-9842-4011-90A6-B6BEA074F031}"/>
                </a:ext>
              </a:extLst>
            </p:cNvPr>
            <p:cNvSpPr>
              <a:spLocks noChangeArrowheads="1" noChangeShapeType="1" noTextEdit="1"/>
            </p:cNvSpPr>
            <p:nvPr/>
          </p:nvSpPr>
          <p:spPr bwMode="auto">
            <a:xfrm>
              <a:off x="107921425" y="108083350"/>
              <a:ext cx="2287270" cy="2400300"/>
            </a:xfrm>
            <a:prstGeom prst="rect">
              <a:avLst/>
            </a:prstGeom>
          </p:spPr>
          <p:txBody>
            <a:bodyPr spcFirstLastPara="1" wrap="none" fromWordArt="1">
              <a:prstTxWarp prst="textArchDown">
                <a:avLst>
                  <a:gd name="adj" fmla="val 0"/>
                </a:avLst>
              </a:prstTxWarp>
            </a:bodyPr>
            <a:lstStyle/>
            <a:p>
              <a:pPr algn="ctr"/>
              <a:r>
                <a:rPr lang="en-US" sz="1800" b="1" kern="10">
                  <a:ln w="9525" algn="ctr">
                    <a:solidFill>
                      <a:srgbClr val="000000"/>
                    </a:solidFill>
                    <a:round/>
                    <a:headEnd/>
                    <a:tailEnd/>
                  </a:ln>
                  <a:solidFill>
                    <a:srgbClr val="000000"/>
                  </a:solidFill>
                  <a:latin typeface="Times New Roman" panose="02020603050405020304" pitchFamily="18" charset="0"/>
                  <a:cs typeface="Times New Roman" panose="02020603050405020304" pitchFamily="18" charset="0"/>
                </a:rPr>
                <a:t>Ethiopian Public Health Institute </a:t>
              </a:r>
            </a:p>
          </p:txBody>
        </p:sp>
        <p:sp>
          <p:nvSpPr>
            <p:cNvPr id="11" name="AutoShape 6">
              <a:extLst>
                <a:ext uri="{FF2B5EF4-FFF2-40B4-BE49-F238E27FC236}">
                  <a16:creationId xmlns:a16="http://schemas.microsoft.com/office/drawing/2014/main" id="{75036A6C-D18A-4F9F-94E0-6EDC1BBD5DD7}"/>
                </a:ext>
              </a:extLst>
            </p:cNvPr>
            <p:cNvSpPr>
              <a:spLocks noChangeArrowheads="1"/>
            </p:cNvSpPr>
            <p:nvPr/>
          </p:nvSpPr>
          <p:spPr bwMode="auto">
            <a:xfrm>
              <a:off x="107871195" y="108868196"/>
              <a:ext cx="104659" cy="102110"/>
            </a:xfrm>
            <a:prstGeom prst="star5">
              <a:avLst/>
            </a:prstGeom>
            <a:solidFill>
              <a:srgbClr val="000000"/>
            </a:solidFill>
            <a:ln w="9525" algn="ctr">
              <a:solidFill>
                <a:srgbClr val="000000"/>
              </a:solidFill>
              <a:miter lim="800000"/>
              <a:headEnd/>
              <a:tailEnd/>
            </a:ln>
          </p:spPr>
          <p:txBody>
            <a:bodyPr/>
            <a:lstStyle/>
            <a:p>
              <a:pPr eaLnBrk="1" fontAlgn="auto" hangingPunct="1">
                <a:spcBef>
                  <a:spcPts val="0"/>
                </a:spcBef>
                <a:spcAft>
                  <a:spcPts val="0"/>
                </a:spcAft>
                <a:defRPr/>
              </a:pPr>
              <a:endParaRPr lang="en-US" sz="1800" dirty="0">
                <a:latin typeface="+mn-lt"/>
              </a:endParaRPr>
            </a:p>
          </p:txBody>
        </p:sp>
        <p:sp>
          <p:nvSpPr>
            <p:cNvPr id="12" name="AutoShape 7">
              <a:extLst>
                <a:ext uri="{FF2B5EF4-FFF2-40B4-BE49-F238E27FC236}">
                  <a16:creationId xmlns:a16="http://schemas.microsoft.com/office/drawing/2014/main" id="{D92CBA27-E689-43FF-A939-BCA6B6AD58EA}"/>
                </a:ext>
              </a:extLst>
            </p:cNvPr>
            <p:cNvSpPr>
              <a:spLocks noChangeArrowheads="1"/>
            </p:cNvSpPr>
            <p:nvPr/>
          </p:nvSpPr>
          <p:spPr bwMode="auto">
            <a:xfrm>
              <a:off x="110157648" y="108868196"/>
              <a:ext cx="112713" cy="102110"/>
            </a:xfrm>
            <a:prstGeom prst="star5">
              <a:avLst/>
            </a:prstGeom>
            <a:solidFill>
              <a:srgbClr val="000000"/>
            </a:solidFill>
            <a:ln w="9525" algn="ctr">
              <a:solidFill>
                <a:srgbClr val="000000"/>
              </a:solidFill>
              <a:miter lim="800000"/>
              <a:headEnd/>
              <a:tailEnd/>
            </a:ln>
          </p:spPr>
          <p:txBody>
            <a:bodyPr/>
            <a:lstStyle/>
            <a:p>
              <a:pPr eaLnBrk="1" fontAlgn="auto" hangingPunct="1">
                <a:spcBef>
                  <a:spcPts val="0"/>
                </a:spcBef>
                <a:spcAft>
                  <a:spcPts val="0"/>
                </a:spcAft>
                <a:defRPr/>
              </a:pPr>
              <a:endParaRPr lang="en-US" sz="1800" dirty="0">
                <a:latin typeface="+mn-lt"/>
              </a:endParaRPr>
            </a:p>
          </p:txBody>
        </p:sp>
        <p:sp>
          <p:nvSpPr>
            <p:cNvPr id="13" name="WordArt 8">
              <a:extLst>
                <a:ext uri="{FF2B5EF4-FFF2-40B4-BE49-F238E27FC236}">
                  <a16:creationId xmlns:a16="http://schemas.microsoft.com/office/drawing/2014/main" id="{42294FB2-6C9E-49AE-AB64-814DEDEF3AF0}"/>
                </a:ext>
              </a:extLst>
            </p:cNvPr>
            <p:cNvSpPr>
              <a:spLocks noChangeArrowheads="1" noChangeShapeType="1" noTextEdit="1"/>
            </p:cNvSpPr>
            <p:nvPr/>
          </p:nvSpPr>
          <p:spPr bwMode="auto">
            <a:xfrm>
              <a:off x="107978577" y="107588052"/>
              <a:ext cx="2171702" cy="2241550"/>
            </a:xfrm>
            <a:prstGeom prst="rect">
              <a:avLst/>
            </a:prstGeom>
          </p:spPr>
          <p:txBody>
            <a:bodyPr spcFirstLastPara="1" wrap="none" fromWordArt="1">
              <a:prstTxWarp prst="textArchUp">
                <a:avLst>
                  <a:gd name="adj" fmla="val 10800004"/>
                </a:avLst>
              </a:prstTxWarp>
            </a:bodyPr>
            <a:lstStyle/>
            <a:p>
              <a:pPr algn="ctr"/>
              <a:r>
                <a:rPr lang="am-ET" sz="1800" kern="10">
                  <a:ln w="9525" algn="ctr">
                    <a:solidFill>
                      <a:srgbClr val="000000"/>
                    </a:solidFill>
                    <a:round/>
                    <a:headEnd/>
                    <a:tailEnd/>
                  </a:ln>
                  <a:solidFill>
                    <a:srgbClr val="000000"/>
                  </a:solidFill>
                  <a:latin typeface="+mn-lt"/>
                  <a:ea typeface="+mn-lt"/>
                  <a:cs typeface="+mn-lt"/>
                </a:rPr>
                <a:t>የኢትዮጵያ የሕብረተሰብ ጤና ኢንስቲትዩት</a:t>
              </a:r>
              <a:endParaRPr lang="en-US" sz="1800" kern="10">
                <a:ln w="9525" algn="ctr">
                  <a:solidFill>
                    <a:srgbClr val="000000"/>
                  </a:solidFill>
                  <a:round/>
                  <a:headEnd/>
                  <a:tailEnd/>
                </a:ln>
                <a:solidFill>
                  <a:srgbClr val="000000"/>
                </a:solidFill>
                <a:latin typeface="+mn-lt"/>
                <a:ea typeface="+mn-lt"/>
                <a:cs typeface="+mn-lt"/>
              </a:endParaRPr>
            </a:p>
          </p:txBody>
        </p:sp>
      </p:grpSp>
      <p:sp>
        <p:nvSpPr>
          <p:cNvPr id="2" name="Title 1"/>
          <p:cNvSpPr>
            <a:spLocks noGrp="1"/>
          </p:cNvSpPr>
          <p:nvPr>
            <p:ph type="title"/>
          </p:nvPr>
        </p:nvSpPr>
        <p:spPr>
          <a:xfrm>
            <a:off x="609600" y="274638"/>
            <a:ext cx="10972800" cy="487362"/>
          </a:xfrm>
        </p:spPr>
        <p:txBody>
          <a:bodyPr/>
          <a:lstStyle>
            <a:lvl1pPr>
              <a:defRPr sz="4000" b="1">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4983163"/>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043A8FB5-B2DC-4B60-A5F3-EEDEC81D5A7E}"/>
              </a:ext>
            </a:extLst>
          </p:cNvPr>
          <p:cNvSpPr>
            <a:spLocks noGrp="1"/>
          </p:cNvSpPr>
          <p:nvPr>
            <p:ph type="dt" sz="half" idx="10"/>
          </p:nvPr>
        </p:nvSpPr>
        <p:spPr/>
        <p:txBody>
          <a:bodyPr/>
          <a:lstStyle>
            <a:lvl1pPr>
              <a:defRPr/>
            </a:lvl1pPr>
          </a:lstStyle>
          <a:p>
            <a:pPr>
              <a:defRPr/>
            </a:pPr>
            <a:fld id="{8085034C-D74A-4A6F-A520-3FDF77D5BBD3}" type="datetimeFigureOut">
              <a:rPr lang="en-US"/>
              <a:pPr>
                <a:defRPr/>
              </a:pPr>
              <a:t>3/11/2025</a:t>
            </a:fld>
            <a:endParaRPr lang="en-US"/>
          </a:p>
        </p:txBody>
      </p:sp>
      <p:sp>
        <p:nvSpPr>
          <p:cNvPr id="15" name="Footer Placeholder 4">
            <a:extLst>
              <a:ext uri="{FF2B5EF4-FFF2-40B4-BE49-F238E27FC236}">
                <a16:creationId xmlns:a16="http://schemas.microsoft.com/office/drawing/2014/main" id="{DAE1DC82-7200-4091-AE3C-DBDFA5683097}"/>
              </a:ext>
            </a:extLst>
          </p:cNvPr>
          <p:cNvSpPr>
            <a:spLocks noGrp="1"/>
          </p:cNvSpPr>
          <p:nvPr>
            <p:ph type="ftr" sz="quarter" idx="11"/>
          </p:nvPr>
        </p:nvSpPr>
        <p:spPr/>
        <p:txBody>
          <a:bodyPr/>
          <a:lstStyle>
            <a:lvl1pPr>
              <a:defRPr/>
            </a:lvl1pPr>
          </a:lstStyle>
          <a:p>
            <a:pPr>
              <a:defRPr/>
            </a:pPr>
            <a:endParaRPr lang="en-US"/>
          </a:p>
        </p:txBody>
      </p:sp>
      <p:sp>
        <p:nvSpPr>
          <p:cNvPr id="16" name="Slide Number Placeholder 5">
            <a:extLst>
              <a:ext uri="{FF2B5EF4-FFF2-40B4-BE49-F238E27FC236}">
                <a16:creationId xmlns:a16="http://schemas.microsoft.com/office/drawing/2014/main" id="{ABCDC784-D1B0-4B78-B511-577A3A49B28B}"/>
              </a:ext>
            </a:extLst>
          </p:cNvPr>
          <p:cNvSpPr>
            <a:spLocks noGrp="1"/>
          </p:cNvSpPr>
          <p:nvPr>
            <p:ph type="sldNum" sz="quarter" idx="12"/>
          </p:nvPr>
        </p:nvSpPr>
        <p:spPr/>
        <p:txBody>
          <a:bodyPr/>
          <a:lstStyle>
            <a:lvl1pPr>
              <a:defRPr/>
            </a:lvl1pPr>
          </a:lstStyle>
          <a:p>
            <a:pPr>
              <a:defRPr/>
            </a:pPr>
            <a:fld id="{70D606EB-ECCA-4F52-8E43-6FEC612ED780}" type="slidenum">
              <a:rPr lang="en-US" altLang="en-US"/>
              <a:pPr>
                <a:defRPr/>
              </a:pPr>
              <a:t>‹#›</a:t>
            </a:fld>
            <a:endParaRPr lang="en-US" altLang="en-US"/>
          </a:p>
        </p:txBody>
      </p:sp>
    </p:spTree>
    <p:extLst>
      <p:ext uri="{BB962C8B-B14F-4D97-AF65-F5344CB8AC3E}">
        <p14:creationId xmlns:p14="http://schemas.microsoft.com/office/powerpoint/2010/main" val="223959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7A139F-F88E-4C75-93AD-2F7812A35A77}"/>
              </a:ext>
            </a:extLst>
          </p:cNvPr>
          <p:cNvSpPr>
            <a:spLocks noGrp="1"/>
          </p:cNvSpPr>
          <p:nvPr>
            <p:ph type="dt" sz="half" idx="10"/>
          </p:nvPr>
        </p:nvSpPr>
        <p:spPr/>
        <p:txBody>
          <a:bodyPr/>
          <a:lstStyle>
            <a:lvl1pPr>
              <a:defRPr/>
            </a:lvl1pPr>
          </a:lstStyle>
          <a:p>
            <a:pPr>
              <a:defRPr/>
            </a:pPr>
            <a:fld id="{C0894812-A332-47F5-8C6E-FCD99849948F}" type="datetimeFigureOut">
              <a:rPr lang="en-US"/>
              <a:pPr>
                <a:defRPr/>
              </a:pPr>
              <a:t>3/11/2025</a:t>
            </a:fld>
            <a:endParaRPr lang="en-US"/>
          </a:p>
        </p:txBody>
      </p:sp>
      <p:sp>
        <p:nvSpPr>
          <p:cNvPr id="5" name="Footer Placeholder 4">
            <a:extLst>
              <a:ext uri="{FF2B5EF4-FFF2-40B4-BE49-F238E27FC236}">
                <a16:creationId xmlns:a16="http://schemas.microsoft.com/office/drawing/2014/main" id="{6F586717-D95F-4384-9E59-44467F21D4C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647B75-6DC9-406B-B0A7-8A8A8852946D}"/>
              </a:ext>
            </a:extLst>
          </p:cNvPr>
          <p:cNvSpPr>
            <a:spLocks noGrp="1"/>
          </p:cNvSpPr>
          <p:nvPr>
            <p:ph type="sldNum" sz="quarter" idx="12"/>
          </p:nvPr>
        </p:nvSpPr>
        <p:spPr/>
        <p:txBody>
          <a:bodyPr/>
          <a:lstStyle>
            <a:lvl1pPr>
              <a:defRPr/>
            </a:lvl1pPr>
          </a:lstStyle>
          <a:p>
            <a:pPr>
              <a:defRPr/>
            </a:pPr>
            <a:fld id="{A48A9BCB-F3F7-479A-9068-88F15A51667B}" type="slidenum">
              <a:rPr lang="en-US" altLang="en-US"/>
              <a:pPr>
                <a:defRPr/>
              </a:pPr>
              <a:t>‹#›</a:t>
            </a:fld>
            <a:endParaRPr lang="en-US" altLang="en-US"/>
          </a:p>
        </p:txBody>
      </p:sp>
    </p:spTree>
    <p:extLst>
      <p:ext uri="{BB962C8B-B14F-4D97-AF65-F5344CB8AC3E}">
        <p14:creationId xmlns:p14="http://schemas.microsoft.com/office/powerpoint/2010/main" val="1765913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E4896CE-2D3A-45A7-BEA0-A07AD5180A8E}"/>
              </a:ext>
            </a:extLst>
          </p:cNvPr>
          <p:cNvSpPr>
            <a:spLocks noGrp="1"/>
          </p:cNvSpPr>
          <p:nvPr>
            <p:ph type="dt" sz="half" idx="10"/>
          </p:nvPr>
        </p:nvSpPr>
        <p:spPr/>
        <p:txBody>
          <a:bodyPr/>
          <a:lstStyle>
            <a:lvl1pPr>
              <a:defRPr/>
            </a:lvl1pPr>
          </a:lstStyle>
          <a:p>
            <a:pPr>
              <a:defRPr/>
            </a:pPr>
            <a:fld id="{46D57C99-AA12-493C-9FC1-A36A53A7806C}" type="datetimeFigureOut">
              <a:rPr lang="en-US"/>
              <a:pPr>
                <a:defRPr/>
              </a:pPr>
              <a:t>3/11/2025</a:t>
            </a:fld>
            <a:endParaRPr lang="en-US"/>
          </a:p>
        </p:txBody>
      </p:sp>
      <p:sp>
        <p:nvSpPr>
          <p:cNvPr id="6" name="Footer Placeholder 4">
            <a:extLst>
              <a:ext uri="{FF2B5EF4-FFF2-40B4-BE49-F238E27FC236}">
                <a16:creationId xmlns:a16="http://schemas.microsoft.com/office/drawing/2014/main" id="{419AC83C-38BB-4E02-8C51-1F18D49621E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559C0AD-3662-4861-A6EE-5A6A93026185}"/>
              </a:ext>
            </a:extLst>
          </p:cNvPr>
          <p:cNvSpPr>
            <a:spLocks noGrp="1"/>
          </p:cNvSpPr>
          <p:nvPr>
            <p:ph type="sldNum" sz="quarter" idx="12"/>
          </p:nvPr>
        </p:nvSpPr>
        <p:spPr/>
        <p:txBody>
          <a:bodyPr/>
          <a:lstStyle>
            <a:lvl1pPr>
              <a:defRPr/>
            </a:lvl1pPr>
          </a:lstStyle>
          <a:p>
            <a:pPr>
              <a:defRPr/>
            </a:pPr>
            <a:fld id="{5392ECAD-E2A9-4AC2-AF38-C909280B6E23}" type="slidenum">
              <a:rPr lang="en-US" altLang="en-US"/>
              <a:pPr>
                <a:defRPr/>
              </a:pPr>
              <a:t>‹#›</a:t>
            </a:fld>
            <a:endParaRPr lang="en-US" altLang="en-US"/>
          </a:p>
        </p:txBody>
      </p:sp>
    </p:spTree>
    <p:extLst>
      <p:ext uri="{BB962C8B-B14F-4D97-AF65-F5344CB8AC3E}">
        <p14:creationId xmlns:p14="http://schemas.microsoft.com/office/powerpoint/2010/main" val="2080680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7322A1F-E3FF-440F-8601-B18916D09D0A}"/>
              </a:ext>
            </a:extLst>
          </p:cNvPr>
          <p:cNvSpPr>
            <a:spLocks noGrp="1"/>
          </p:cNvSpPr>
          <p:nvPr>
            <p:ph type="dt" sz="half" idx="10"/>
          </p:nvPr>
        </p:nvSpPr>
        <p:spPr/>
        <p:txBody>
          <a:bodyPr/>
          <a:lstStyle>
            <a:lvl1pPr>
              <a:defRPr/>
            </a:lvl1pPr>
          </a:lstStyle>
          <a:p>
            <a:pPr>
              <a:defRPr/>
            </a:pPr>
            <a:fld id="{C3938438-6428-49EC-B0A4-1153A85BADDB}" type="datetimeFigureOut">
              <a:rPr lang="en-US"/>
              <a:pPr>
                <a:defRPr/>
              </a:pPr>
              <a:t>3/11/2025</a:t>
            </a:fld>
            <a:endParaRPr lang="en-US"/>
          </a:p>
        </p:txBody>
      </p:sp>
      <p:sp>
        <p:nvSpPr>
          <p:cNvPr id="8" name="Footer Placeholder 4">
            <a:extLst>
              <a:ext uri="{FF2B5EF4-FFF2-40B4-BE49-F238E27FC236}">
                <a16:creationId xmlns:a16="http://schemas.microsoft.com/office/drawing/2014/main" id="{C1A66E9E-25B2-4C16-9D08-266935E3F2C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92CBEE2-40CE-48A4-8827-87CBC450C3F3}"/>
              </a:ext>
            </a:extLst>
          </p:cNvPr>
          <p:cNvSpPr>
            <a:spLocks noGrp="1"/>
          </p:cNvSpPr>
          <p:nvPr>
            <p:ph type="sldNum" sz="quarter" idx="12"/>
          </p:nvPr>
        </p:nvSpPr>
        <p:spPr/>
        <p:txBody>
          <a:bodyPr/>
          <a:lstStyle>
            <a:lvl1pPr>
              <a:defRPr/>
            </a:lvl1pPr>
          </a:lstStyle>
          <a:p>
            <a:pPr>
              <a:defRPr/>
            </a:pPr>
            <a:fld id="{414667CA-0785-42AE-8C6A-A0176F1C4477}" type="slidenum">
              <a:rPr lang="en-US" altLang="en-US"/>
              <a:pPr>
                <a:defRPr/>
              </a:pPr>
              <a:t>‹#›</a:t>
            </a:fld>
            <a:endParaRPr lang="en-US" altLang="en-US"/>
          </a:p>
        </p:txBody>
      </p:sp>
    </p:spTree>
    <p:extLst>
      <p:ext uri="{BB962C8B-B14F-4D97-AF65-F5344CB8AC3E}">
        <p14:creationId xmlns:p14="http://schemas.microsoft.com/office/powerpoint/2010/main" val="361024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1571636-94A2-45CB-A160-31F7A1815C04}"/>
              </a:ext>
            </a:extLst>
          </p:cNvPr>
          <p:cNvSpPr>
            <a:spLocks noGrp="1"/>
          </p:cNvSpPr>
          <p:nvPr>
            <p:ph type="dt" sz="half" idx="10"/>
          </p:nvPr>
        </p:nvSpPr>
        <p:spPr/>
        <p:txBody>
          <a:bodyPr/>
          <a:lstStyle>
            <a:lvl1pPr>
              <a:defRPr/>
            </a:lvl1pPr>
          </a:lstStyle>
          <a:p>
            <a:pPr>
              <a:defRPr/>
            </a:pPr>
            <a:fld id="{D7B0A397-A08E-4586-B6FC-584683158094}" type="datetimeFigureOut">
              <a:rPr lang="en-US"/>
              <a:pPr>
                <a:defRPr/>
              </a:pPr>
              <a:t>3/11/2025</a:t>
            </a:fld>
            <a:endParaRPr lang="en-US"/>
          </a:p>
        </p:txBody>
      </p:sp>
      <p:sp>
        <p:nvSpPr>
          <p:cNvPr id="4" name="Footer Placeholder 4">
            <a:extLst>
              <a:ext uri="{FF2B5EF4-FFF2-40B4-BE49-F238E27FC236}">
                <a16:creationId xmlns:a16="http://schemas.microsoft.com/office/drawing/2014/main" id="{78FF12A1-0754-4FAD-8552-1F63707708C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57C53FE-93C2-49A3-9F1F-0868CD4655D6}"/>
              </a:ext>
            </a:extLst>
          </p:cNvPr>
          <p:cNvSpPr>
            <a:spLocks noGrp="1"/>
          </p:cNvSpPr>
          <p:nvPr>
            <p:ph type="sldNum" sz="quarter" idx="12"/>
          </p:nvPr>
        </p:nvSpPr>
        <p:spPr/>
        <p:txBody>
          <a:bodyPr/>
          <a:lstStyle>
            <a:lvl1pPr>
              <a:defRPr/>
            </a:lvl1pPr>
          </a:lstStyle>
          <a:p>
            <a:pPr>
              <a:defRPr/>
            </a:pPr>
            <a:fld id="{F70BB750-985E-4381-AB3F-634B7BEC400A}" type="slidenum">
              <a:rPr lang="en-US" altLang="en-US"/>
              <a:pPr>
                <a:defRPr/>
              </a:pPr>
              <a:t>‹#›</a:t>
            </a:fld>
            <a:endParaRPr lang="en-US" altLang="en-US"/>
          </a:p>
        </p:txBody>
      </p:sp>
    </p:spTree>
    <p:extLst>
      <p:ext uri="{BB962C8B-B14F-4D97-AF65-F5344CB8AC3E}">
        <p14:creationId xmlns:p14="http://schemas.microsoft.com/office/powerpoint/2010/main" val="129416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8873FBD-3B4A-4E08-A5DE-C445D89E516D}"/>
              </a:ext>
            </a:extLst>
          </p:cNvPr>
          <p:cNvSpPr>
            <a:spLocks noGrp="1"/>
          </p:cNvSpPr>
          <p:nvPr>
            <p:ph type="dt" sz="half" idx="10"/>
          </p:nvPr>
        </p:nvSpPr>
        <p:spPr/>
        <p:txBody>
          <a:bodyPr/>
          <a:lstStyle>
            <a:lvl1pPr>
              <a:defRPr/>
            </a:lvl1pPr>
          </a:lstStyle>
          <a:p>
            <a:pPr>
              <a:defRPr/>
            </a:pPr>
            <a:fld id="{2661B87A-9634-4716-97DB-BF20E6FE6F7B}" type="datetimeFigureOut">
              <a:rPr lang="en-US"/>
              <a:pPr>
                <a:defRPr/>
              </a:pPr>
              <a:t>3/11/2025</a:t>
            </a:fld>
            <a:endParaRPr lang="en-US"/>
          </a:p>
        </p:txBody>
      </p:sp>
      <p:sp>
        <p:nvSpPr>
          <p:cNvPr id="3" name="Footer Placeholder 4">
            <a:extLst>
              <a:ext uri="{FF2B5EF4-FFF2-40B4-BE49-F238E27FC236}">
                <a16:creationId xmlns:a16="http://schemas.microsoft.com/office/drawing/2014/main" id="{28CE05FE-6D4A-4FA2-80E8-754A330BAFD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FAEE6AB-2479-45BF-80BA-2EF1DF74A8B3}"/>
              </a:ext>
            </a:extLst>
          </p:cNvPr>
          <p:cNvSpPr>
            <a:spLocks noGrp="1"/>
          </p:cNvSpPr>
          <p:nvPr>
            <p:ph type="sldNum" sz="quarter" idx="12"/>
          </p:nvPr>
        </p:nvSpPr>
        <p:spPr/>
        <p:txBody>
          <a:bodyPr/>
          <a:lstStyle>
            <a:lvl1pPr>
              <a:defRPr/>
            </a:lvl1pPr>
          </a:lstStyle>
          <a:p>
            <a:pPr>
              <a:defRPr/>
            </a:pPr>
            <a:fld id="{CDAED144-C00D-4528-97B3-BBB69B851B67}" type="slidenum">
              <a:rPr lang="en-US" altLang="en-US"/>
              <a:pPr>
                <a:defRPr/>
              </a:pPr>
              <a:t>‹#›</a:t>
            </a:fld>
            <a:endParaRPr lang="en-US" altLang="en-US"/>
          </a:p>
        </p:txBody>
      </p:sp>
    </p:spTree>
    <p:extLst>
      <p:ext uri="{BB962C8B-B14F-4D97-AF65-F5344CB8AC3E}">
        <p14:creationId xmlns:p14="http://schemas.microsoft.com/office/powerpoint/2010/main" val="108386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887CE9F-A87F-45C7-A88A-B0F3DE7AC4CA}"/>
              </a:ext>
            </a:extLst>
          </p:cNvPr>
          <p:cNvSpPr>
            <a:spLocks noGrp="1"/>
          </p:cNvSpPr>
          <p:nvPr>
            <p:ph type="dt" sz="half" idx="10"/>
          </p:nvPr>
        </p:nvSpPr>
        <p:spPr/>
        <p:txBody>
          <a:bodyPr/>
          <a:lstStyle>
            <a:lvl1pPr>
              <a:defRPr/>
            </a:lvl1pPr>
          </a:lstStyle>
          <a:p>
            <a:pPr>
              <a:defRPr/>
            </a:pPr>
            <a:fld id="{AD049CC5-9082-4DD6-A4D8-317358F02551}" type="datetimeFigureOut">
              <a:rPr lang="en-US"/>
              <a:pPr>
                <a:defRPr/>
              </a:pPr>
              <a:t>3/11/2025</a:t>
            </a:fld>
            <a:endParaRPr lang="en-US"/>
          </a:p>
        </p:txBody>
      </p:sp>
      <p:sp>
        <p:nvSpPr>
          <p:cNvPr id="6" name="Footer Placeholder 4">
            <a:extLst>
              <a:ext uri="{FF2B5EF4-FFF2-40B4-BE49-F238E27FC236}">
                <a16:creationId xmlns:a16="http://schemas.microsoft.com/office/drawing/2014/main" id="{471FF162-ACA7-4CCE-B2B0-E327395C9AC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3339A0F-1743-4C92-8742-4DD234ED4EC6}"/>
              </a:ext>
            </a:extLst>
          </p:cNvPr>
          <p:cNvSpPr>
            <a:spLocks noGrp="1"/>
          </p:cNvSpPr>
          <p:nvPr>
            <p:ph type="sldNum" sz="quarter" idx="12"/>
          </p:nvPr>
        </p:nvSpPr>
        <p:spPr/>
        <p:txBody>
          <a:bodyPr/>
          <a:lstStyle>
            <a:lvl1pPr>
              <a:defRPr/>
            </a:lvl1pPr>
          </a:lstStyle>
          <a:p>
            <a:pPr>
              <a:defRPr/>
            </a:pPr>
            <a:fld id="{B5281883-78F6-4BE9-BD1F-8B80BB45A137}" type="slidenum">
              <a:rPr lang="en-US" altLang="en-US"/>
              <a:pPr>
                <a:defRPr/>
              </a:pPr>
              <a:t>‹#›</a:t>
            </a:fld>
            <a:endParaRPr lang="en-US" altLang="en-US"/>
          </a:p>
        </p:txBody>
      </p:sp>
    </p:spTree>
    <p:extLst>
      <p:ext uri="{BB962C8B-B14F-4D97-AF65-F5344CB8AC3E}">
        <p14:creationId xmlns:p14="http://schemas.microsoft.com/office/powerpoint/2010/main" val="218444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4BD6D7D-712A-417D-A225-C53D06F99ED1}"/>
              </a:ext>
            </a:extLst>
          </p:cNvPr>
          <p:cNvSpPr>
            <a:spLocks noGrp="1"/>
          </p:cNvSpPr>
          <p:nvPr>
            <p:ph type="dt" sz="half" idx="10"/>
          </p:nvPr>
        </p:nvSpPr>
        <p:spPr/>
        <p:txBody>
          <a:bodyPr/>
          <a:lstStyle>
            <a:lvl1pPr>
              <a:defRPr/>
            </a:lvl1pPr>
          </a:lstStyle>
          <a:p>
            <a:pPr>
              <a:defRPr/>
            </a:pPr>
            <a:fld id="{350785F0-B227-427A-A646-7C070C1A94F0}" type="datetimeFigureOut">
              <a:rPr lang="en-US"/>
              <a:pPr>
                <a:defRPr/>
              </a:pPr>
              <a:t>3/11/2025</a:t>
            </a:fld>
            <a:endParaRPr lang="en-US"/>
          </a:p>
        </p:txBody>
      </p:sp>
      <p:sp>
        <p:nvSpPr>
          <p:cNvPr id="6" name="Footer Placeholder 4">
            <a:extLst>
              <a:ext uri="{FF2B5EF4-FFF2-40B4-BE49-F238E27FC236}">
                <a16:creationId xmlns:a16="http://schemas.microsoft.com/office/drawing/2014/main" id="{1D2061AE-F814-41E6-ABE0-77618B4D0ED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D76C4AA-8C1B-46CD-92BD-824E011B954D}"/>
              </a:ext>
            </a:extLst>
          </p:cNvPr>
          <p:cNvSpPr>
            <a:spLocks noGrp="1"/>
          </p:cNvSpPr>
          <p:nvPr>
            <p:ph type="sldNum" sz="quarter" idx="12"/>
          </p:nvPr>
        </p:nvSpPr>
        <p:spPr/>
        <p:txBody>
          <a:bodyPr/>
          <a:lstStyle>
            <a:lvl1pPr>
              <a:defRPr/>
            </a:lvl1pPr>
          </a:lstStyle>
          <a:p>
            <a:pPr>
              <a:defRPr/>
            </a:pPr>
            <a:fld id="{47990E52-F7F7-4B7C-B543-93E6BC9EC46D}" type="slidenum">
              <a:rPr lang="en-US" altLang="en-US"/>
              <a:pPr>
                <a:defRPr/>
              </a:pPr>
              <a:t>‹#›</a:t>
            </a:fld>
            <a:endParaRPr lang="en-US" altLang="en-US"/>
          </a:p>
        </p:txBody>
      </p:sp>
    </p:spTree>
    <p:extLst>
      <p:ext uri="{BB962C8B-B14F-4D97-AF65-F5344CB8AC3E}">
        <p14:creationId xmlns:p14="http://schemas.microsoft.com/office/powerpoint/2010/main" val="173672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13A67-27E3-49E6-B05E-63A39C74220B}"/>
              </a:ext>
            </a:extLst>
          </p:cNvPr>
          <p:cNvSpPr>
            <a:spLocks noGrp="1"/>
          </p:cNvSpPr>
          <p:nvPr>
            <p:ph type="dt" sz="half" idx="10"/>
          </p:nvPr>
        </p:nvSpPr>
        <p:spPr/>
        <p:txBody>
          <a:bodyPr/>
          <a:lstStyle>
            <a:lvl1pPr>
              <a:defRPr/>
            </a:lvl1pPr>
          </a:lstStyle>
          <a:p>
            <a:pPr>
              <a:defRPr/>
            </a:pPr>
            <a:fld id="{033F98F5-CCA6-4425-AD7B-0651C09A7499}" type="datetimeFigureOut">
              <a:rPr lang="en-US"/>
              <a:pPr>
                <a:defRPr/>
              </a:pPr>
              <a:t>3/11/2025</a:t>
            </a:fld>
            <a:endParaRPr lang="en-US"/>
          </a:p>
        </p:txBody>
      </p:sp>
      <p:sp>
        <p:nvSpPr>
          <p:cNvPr id="5" name="Footer Placeholder 4">
            <a:extLst>
              <a:ext uri="{FF2B5EF4-FFF2-40B4-BE49-F238E27FC236}">
                <a16:creationId xmlns:a16="http://schemas.microsoft.com/office/drawing/2014/main" id="{30CE861D-1CED-405B-80A8-F6D0C178FBF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8111DC2-14E4-4242-9167-AF1BBBBDD025}"/>
              </a:ext>
            </a:extLst>
          </p:cNvPr>
          <p:cNvSpPr>
            <a:spLocks noGrp="1"/>
          </p:cNvSpPr>
          <p:nvPr>
            <p:ph type="sldNum" sz="quarter" idx="12"/>
          </p:nvPr>
        </p:nvSpPr>
        <p:spPr/>
        <p:txBody>
          <a:bodyPr/>
          <a:lstStyle>
            <a:lvl1pPr>
              <a:defRPr/>
            </a:lvl1pPr>
          </a:lstStyle>
          <a:p>
            <a:pPr>
              <a:defRPr/>
            </a:pPr>
            <a:fld id="{2031AD4F-BC9F-4F43-A8D6-405D87072450}" type="slidenum">
              <a:rPr lang="en-US" altLang="en-US"/>
              <a:pPr>
                <a:defRPr/>
              </a:pPr>
              <a:t>‹#›</a:t>
            </a:fld>
            <a:endParaRPr lang="en-US" altLang="en-US"/>
          </a:p>
        </p:txBody>
      </p:sp>
    </p:spTree>
    <p:extLst>
      <p:ext uri="{BB962C8B-B14F-4D97-AF65-F5344CB8AC3E}">
        <p14:creationId xmlns:p14="http://schemas.microsoft.com/office/powerpoint/2010/main" val="419798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2150E-537D-4C72-BD83-B4AFE98DCE2D}"/>
              </a:ext>
            </a:extLst>
          </p:cNvPr>
          <p:cNvSpPr>
            <a:spLocks noGrp="1"/>
          </p:cNvSpPr>
          <p:nvPr>
            <p:ph type="dt" sz="half" idx="10"/>
          </p:nvPr>
        </p:nvSpPr>
        <p:spPr/>
        <p:txBody>
          <a:bodyPr/>
          <a:lstStyle>
            <a:lvl1pPr>
              <a:defRPr/>
            </a:lvl1pPr>
          </a:lstStyle>
          <a:p>
            <a:pPr>
              <a:defRPr/>
            </a:pPr>
            <a:fld id="{8C66C5DB-6CB8-49C1-B490-2BFF844232CE}" type="datetimeFigureOut">
              <a:rPr lang="en-US"/>
              <a:pPr>
                <a:defRPr/>
              </a:pPr>
              <a:t>3/11/2025</a:t>
            </a:fld>
            <a:endParaRPr lang="en-US"/>
          </a:p>
        </p:txBody>
      </p:sp>
      <p:sp>
        <p:nvSpPr>
          <p:cNvPr id="5" name="Footer Placeholder 4">
            <a:extLst>
              <a:ext uri="{FF2B5EF4-FFF2-40B4-BE49-F238E27FC236}">
                <a16:creationId xmlns:a16="http://schemas.microsoft.com/office/drawing/2014/main" id="{CBB8D3F9-58BA-4BAF-9973-65823ECD9CA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436964B-A941-413D-8CE0-C7ABC7D07AB8}"/>
              </a:ext>
            </a:extLst>
          </p:cNvPr>
          <p:cNvSpPr>
            <a:spLocks noGrp="1"/>
          </p:cNvSpPr>
          <p:nvPr>
            <p:ph type="sldNum" sz="quarter" idx="12"/>
          </p:nvPr>
        </p:nvSpPr>
        <p:spPr/>
        <p:txBody>
          <a:bodyPr/>
          <a:lstStyle>
            <a:lvl1pPr>
              <a:defRPr/>
            </a:lvl1pPr>
          </a:lstStyle>
          <a:p>
            <a:pPr>
              <a:defRPr/>
            </a:pPr>
            <a:fld id="{97AE3CF8-14F1-4E5D-86EB-B212E9A30E9B}" type="slidenum">
              <a:rPr lang="en-US" altLang="en-US"/>
              <a:pPr>
                <a:defRPr/>
              </a:pPr>
              <a:t>‹#›</a:t>
            </a:fld>
            <a:endParaRPr lang="en-US" altLang="en-US"/>
          </a:p>
        </p:txBody>
      </p:sp>
    </p:spTree>
    <p:extLst>
      <p:ext uri="{BB962C8B-B14F-4D97-AF65-F5344CB8AC3E}">
        <p14:creationId xmlns:p14="http://schemas.microsoft.com/office/powerpoint/2010/main" val="1641140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60AF328-C1B9-438B-ADA6-76AC6184E15E}"/>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D8C104A-9FAC-47EE-9D14-EEAD653220C0}"/>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A0205DD-39E1-4509-93CC-BB1DF2E3F739}"/>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C5231AE-0026-462A-831A-26E4DF5507AC}" type="datetimeFigureOut">
              <a:rPr lang="en-US"/>
              <a:pPr>
                <a:defRPr/>
              </a:pPr>
              <a:t>3/11/2025</a:t>
            </a:fld>
            <a:endParaRPr lang="en-US"/>
          </a:p>
        </p:txBody>
      </p:sp>
      <p:sp>
        <p:nvSpPr>
          <p:cNvPr id="5" name="Footer Placeholder 4">
            <a:extLst>
              <a:ext uri="{FF2B5EF4-FFF2-40B4-BE49-F238E27FC236}">
                <a16:creationId xmlns:a16="http://schemas.microsoft.com/office/drawing/2014/main" id="{51DE42B4-A639-4A84-B139-39643374C8FD}"/>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361F6D7-767E-4032-8974-5EF286057912}"/>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72A77241-62CB-420B-9F0F-9800C3C082C1}" type="slidenum">
              <a:rPr lang="en-US" altLang="en-US"/>
              <a:pPr>
                <a:defRPr/>
              </a:pPr>
              <a:t>‹#›</a:t>
            </a:fld>
            <a:endParaRPr lang="en-US" altLang="en-US"/>
          </a:p>
        </p:txBody>
      </p:sp>
    </p:spTree>
    <p:extLst>
      <p:ext uri="{BB962C8B-B14F-4D97-AF65-F5344CB8AC3E}">
        <p14:creationId xmlns:p14="http://schemas.microsoft.com/office/powerpoint/2010/main" val="3164267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staging.ephi.gov.net/ephi/"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45138FA5-C322-474F-9EC2-23EE3640A95F}"/>
              </a:ext>
            </a:extLst>
          </p:cNvPr>
          <p:cNvSpPr>
            <a:spLocks noGrp="1"/>
          </p:cNvSpPr>
          <p:nvPr>
            <p:ph type="subTitle" idx="1"/>
          </p:nvPr>
        </p:nvSpPr>
        <p:spPr>
          <a:xfrm>
            <a:off x="1021773" y="230485"/>
            <a:ext cx="10668000" cy="646331"/>
          </a:xfrm>
        </p:spPr>
        <p:txBody>
          <a:bodyPr wrap="square" anchor="ctr">
            <a:spAutoFit/>
          </a:bodyPr>
          <a:lstStyle/>
          <a:p>
            <a:r>
              <a:rPr lang="en-US" altLang="en-US" sz="3600" b="1" dirty="0">
                <a:latin typeface="Tahoma" panose="020B0604030504040204" pitchFamily="34" charset="0"/>
                <a:ea typeface="Tahoma" panose="020B0604030504040204" pitchFamily="34" charset="0"/>
                <a:cs typeface="Tahoma" panose="020B0604030504040204" pitchFamily="34" charset="0"/>
              </a:rPr>
              <a:t>Ethiopian Public Health Institute (EPHI)</a:t>
            </a:r>
          </a:p>
        </p:txBody>
      </p:sp>
      <p:sp>
        <p:nvSpPr>
          <p:cNvPr id="6147" name="Rectangle 3">
            <a:extLst>
              <a:ext uri="{FF2B5EF4-FFF2-40B4-BE49-F238E27FC236}">
                <a16:creationId xmlns:a16="http://schemas.microsoft.com/office/drawing/2014/main" id="{EB47C844-9FDF-4C44-BF23-114C70B8B41C}"/>
              </a:ext>
            </a:extLst>
          </p:cNvPr>
          <p:cNvSpPr>
            <a:spLocks noChangeArrowheads="1"/>
          </p:cNvSpPr>
          <p:nvPr/>
        </p:nvSpPr>
        <p:spPr bwMode="auto">
          <a:xfrm>
            <a:off x="1324222" y="4975025"/>
            <a:ext cx="9183756" cy="89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0" fontAlgn="base" latinLnBrk="0" hangingPunct="0">
              <a:lnSpc>
                <a:spcPct val="150000"/>
              </a:lnSpc>
              <a:spcBef>
                <a:spcPct val="0"/>
              </a:spcBef>
              <a:spcAft>
                <a:spcPct val="0"/>
              </a:spcAft>
              <a:buClrTx/>
              <a:buSzTx/>
              <a:buFont typeface="Arial" panose="020B0604020202020204" pitchFamily="34" charset="0"/>
              <a:buNone/>
              <a:tabLst/>
              <a:defRPr/>
            </a:pPr>
            <a:r>
              <a:rPr kumimoji="0" lang="en-US" altLang="en-US" sz="4000" b="1"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Introduction</a:t>
            </a:r>
            <a:endParaRPr kumimoji="0" lang="en-US" altLang="en-US" b="1"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78831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5F2D-74CB-4823-BC80-7E799A87A620}"/>
              </a:ext>
            </a:extLst>
          </p:cNvPr>
          <p:cNvSpPr>
            <a:spLocks noGrp="1"/>
          </p:cNvSpPr>
          <p:nvPr>
            <p:ph type="title"/>
          </p:nvPr>
        </p:nvSpPr>
        <p:spPr/>
        <p:txBody>
          <a:bodyPr/>
          <a:lstStyle/>
          <a:p>
            <a:r>
              <a:rPr lang="en-US" sz="3600" dirty="0">
                <a:latin typeface="Tahoma" panose="020B0604030504040204" pitchFamily="34" charset="0"/>
                <a:ea typeface="Tahoma" panose="020B0604030504040204" pitchFamily="34" charset="0"/>
                <a:cs typeface="Tahoma" panose="020B0604030504040204" pitchFamily="34" charset="0"/>
              </a:rPr>
              <a:t>Outline</a:t>
            </a:r>
          </a:p>
        </p:txBody>
      </p:sp>
      <p:sp>
        <p:nvSpPr>
          <p:cNvPr id="3" name="Content Placeholder 2">
            <a:extLst>
              <a:ext uri="{FF2B5EF4-FFF2-40B4-BE49-F238E27FC236}">
                <a16:creationId xmlns:a16="http://schemas.microsoft.com/office/drawing/2014/main" id="{DA9452FA-F02E-430E-9297-8D1F93766AB4}"/>
              </a:ext>
            </a:extLst>
          </p:cNvPr>
          <p:cNvSpPr>
            <a:spLocks noGrp="1"/>
          </p:cNvSpPr>
          <p:nvPr>
            <p:ph idx="1"/>
          </p:nvPr>
        </p:nvSpPr>
        <p:spPr/>
        <p:txBody>
          <a:bodyPr/>
          <a:lstStyle/>
          <a:p>
            <a:pPr marL="0" indent="0" algn="just">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Background</a:t>
            </a:r>
          </a:p>
          <a:p>
            <a:pPr marL="0" indent="0" algn="just">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Introduction to DHSI2</a:t>
            </a:r>
          </a:p>
          <a:p>
            <a:pPr marL="0" indent="0" algn="just">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Basics of DHIS2</a:t>
            </a:r>
          </a:p>
          <a:p>
            <a:pPr marL="0" indent="0" algn="just">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Building Blocks DHIS2</a:t>
            </a:r>
          </a:p>
          <a:p>
            <a:pPr marL="0" indent="0" algn="just">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Getting Started With DHIS2</a:t>
            </a:r>
          </a:p>
          <a:p>
            <a:pPr marL="0" indent="0">
              <a:buNone/>
            </a:pPr>
            <a:endParaRPr lang="en-US" dirty="0"/>
          </a:p>
        </p:txBody>
      </p:sp>
    </p:spTree>
    <p:extLst>
      <p:ext uri="{BB962C8B-B14F-4D97-AF65-F5344CB8AC3E}">
        <p14:creationId xmlns:p14="http://schemas.microsoft.com/office/powerpoint/2010/main" val="4206662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Background</a:t>
            </a:r>
            <a:endParaRPr lang="en-US" b="1" dirty="0"/>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609600" y="1007371"/>
            <a:ext cx="11074400" cy="5020896"/>
          </a:xfrm>
        </p:spPr>
        <p:txBody>
          <a:bodyPr>
            <a:normAutofit fontScale="85000" lnSpcReduction="20000"/>
          </a:bodyPr>
          <a:lstStyle/>
          <a:p>
            <a:pPr algn="just">
              <a:lnSpc>
                <a:spcPct val="12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The Center for Public Health Emergency Management (PHEM) Early Warning and Information System Management Preparedness Directorate (EWISMPD) of the Ethiopian Public Health Institute (EPHI) has selected Dhis2 as an electronic reporting platform as of May 2018.</a:t>
            </a:r>
          </a:p>
          <a:p>
            <a:pPr algn="just">
              <a:lnSpc>
                <a:spcPct val="12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EPHI/PHEM, in collaboration with MOH and Partners, has managed to incorporate a separate PHEM application in DHIS2 to address the existing inefficiencies in its surveillance system and in an attempt to modernize electronic data reporting and data management. </a:t>
            </a:r>
          </a:p>
          <a:p>
            <a:pPr algn="just">
              <a:lnSpc>
                <a:spcPct val="12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This helps to improve data management and quality and is used for data-driven decision-making in outbreak control and prevention, early warning, and communication of risks to the public and stakeholders. </a:t>
            </a:r>
          </a:p>
          <a:p>
            <a:pPr algn="just">
              <a:lnSpc>
                <a:spcPct val="150000"/>
              </a:lnSpc>
            </a:pPr>
            <a:endParaRPr lang="en-US" dirty="0"/>
          </a:p>
          <a:p>
            <a:pPr marL="0" indent="0" algn="just">
              <a:lnSpc>
                <a:spcPct val="150000"/>
              </a:lnSpc>
              <a:buNone/>
            </a:pPr>
            <a:endParaRPr lang="en-US" dirty="0"/>
          </a:p>
        </p:txBody>
      </p:sp>
    </p:spTree>
    <p:extLst>
      <p:ext uri="{BB962C8B-B14F-4D97-AF65-F5344CB8AC3E}">
        <p14:creationId xmlns:p14="http://schemas.microsoft.com/office/powerpoint/2010/main" val="341286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Introduction</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270933" y="1007371"/>
            <a:ext cx="11311467" cy="1900834"/>
          </a:xfrm>
        </p:spPr>
        <p:txBody>
          <a:bodyPr>
            <a:normAutofit fontScale="77500" lnSpcReduction="20000"/>
          </a:bodyPr>
          <a:lstStyle/>
          <a:p>
            <a:pPr marL="0" indent="0" algn="ctr">
              <a:lnSpc>
                <a:spcPct val="170000"/>
              </a:lnSpc>
              <a:buNone/>
            </a:pPr>
            <a:endParaRPr lang="en-US" sz="4400" b="1" dirty="0">
              <a:solidFill>
                <a:schemeClr val="tx2"/>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70000"/>
              </a:lnSpc>
              <a:buNone/>
            </a:pPr>
            <a:r>
              <a:rPr lang="en-US" sz="5200" b="1" dirty="0">
                <a:solidFill>
                  <a:schemeClr val="tx2"/>
                </a:solidFill>
                <a:latin typeface="Tahoma" panose="020B0604030504040204" pitchFamily="34" charset="0"/>
                <a:ea typeface="Tahoma" panose="020B0604030504040204" pitchFamily="34" charset="0"/>
                <a:cs typeface="Tahoma" panose="020B0604030504040204" pitchFamily="34" charset="0"/>
              </a:rPr>
              <a:t>What is DHIS2</a:t>
            </a:r>
            <a:r>
              <a:rPr lang="en-US" sz="5200" dirty="0">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endParaRPr lang="en-US" dirty="0"/>
          </a:p>
          <a:p>
            <a:pPr algn="just">
              <a:lnSpc>
                <a:spcPct val="150000"/>
              </a:lnSpc>
            </a:pPr>
            <a:endParaRPr lang="en-US" dirty="0"/>
          </a:p>
          <a:p>
            <a:pPr marL="0" indent="0" algn="just">
              <a:lnSpc>
                <a:spcPct val="150000"/>
              </a:lnSpc>
              <a:buNone/>
            </a:pPr>
            <a:endParaRPr lang="en-US" dirty="0"/>
          </a:p>
        </p:txBody>
      </p:sp>
    </p:spTree>
    <p:extLst>
      <p:ext uri="{BB962C8B-B14F-4D97-AF65-F5344CB8AC3E}">
        <p14:creationId xmlns:p14="http://schemas.microsoft.com/office/powerpoint/2010/main" val="320759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284A1-7524-47CF-0916-A941FC1A1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36150-7F61-E06E-5271-509B2A626BD6}"/>
              </a:ext>
            </a:extLst>
          </p:cNvPr>
          <p:cNvSpPr>
            <a:spLocks noGrp="1"/>
          </p:cNvSpPr>
          <p:nvPr>
            <p:ph type="title"/>
          </p:nvPr>
        </p:nvSpPr>
        <p:spPr/>
        <p:txBody>
          <a:bodyPr>
            <a:normAutofit fontScale="90000"/>
          </a:bodyPr>
          <a:lstStyle/>
          <a:p>
            <a:r>
              <a:rPr lang="en-US" dirty="0"/>
              <a:t>Introduction</a:t>
            </a:r>
            <a:endParaRPr lang="en-US" b="1" dirty="0"/>
          </a:p>
        </p:txBody>
      </p:sp>
      <p:sp>
        <p:nvSpPr>
          <p:cNvPr id="3" name="Content Placeholder 2">
            <a:extLst>
              <a:ext uri="{FF2B5EF4-FFF2-40B4-BE49-F238E27FC236}">
                <a16:creationId xmlns:a16="http://schemas.microsoft.com/office/drawing/2014/main" id="{8884E908-F36C-FD6A-7435-F92F59E8B969}"/>
              </a:ext>
            </a:extLst>
          </p:cNvPr>
          <p:cNvSpPr>
            <a:spLocks noGrp="1"/>
          </p:cNvSpPr>
          <p:nvPr>
            <p:ph idx="1"/>
          </p:nvPr>
        </p:nvSpPr>
        <p:spPr>
          <a:xfrm>
            <a:off x="270933" y="1007370"/>
            <a:ext cx="11644402" cy="5221549"/>
          </a:xfrm>
        </p:spPr>
        <p:txBody>
          <a:bodyPr>
            <a:normAutofit fontScale="77500" lnSpcReduction="20000"/>
          </a:bodyPr>
          <a:lstStyle/>
          <a:p>
            <a:pPr marL="0" indent="0" algn="just">
              <a:lnSpc>
                <a:spcPct val="170000"/>
              </a:lnSpc>
              <a:buNone/>
            </a:pPr>
            <a:r>
              <a:rPr lang="en-US" sz="4400" b="1" dirty="0">
                <a:solidFill>
                  <a:schemeClr val="tx2"/>
                </a:solidFill>
              </a:rPr>
              <a:t>What is DHIS2</a:t>
            </a:r>
            <a:r>
              <a:rPr lang="en-US" sz="4400" dirty="0"/>
              <a:t>?</a:t>
            </a:r>
          </a:p>
          <a:p>
            <a:pPr algn="just">
              <a:lnSpc>
                <a:spcPct val="220000"/>
              </a:lnSpc>
              <a:buFont typeface="Wingdings" panose="05000000000000000000" pitchFamily="2" charset="2"/>
              <a:buChar char="§"/>
            </a:pPr>
            <a:r>
              <a:rPr lang="en-US" sz="3600" dirty="0">
                <a:latin typeface="Tahoma" panose="020B0604030504040204" pitchFamily="34" charset="0"/>
                <a:ea typeface="Tahoma" panose="020B0604030504040204" pitchFamily="34" charset="0"/>
                <a:cs typeface="Tahoma" panose="020B0604030504040204" pitchFamily="34" charset="0"/>
              </a:rPr>
              <a:t>DHIS2 is a tool for collecting, validating, analyzing, and presenting </a:t>
            </a:r>
            <a:r>
              <a:rPr lang="en-US" sz="3600" dirty="0">
                <a:solidFill>
                  <a:srgbClr val="00B0F0"/>
                </a:solidFill>
                <a:latin typeface="Tahoma" panose="020B0604030504040204" pitchFamily="34" charset="0"/>
                <a:ea typeface="Tahoma" panose="020B0604030504040204" pitchFamily="34" charset="0"/>
                <a:cs typeface="Tahoma" panose="020B0604030504040204" pitchFamily="34" charset="0"/>
              </a:rPr>
              <a:t>aggregate</a:t>
            </a:r>
            <a:r>
              <a:rPr lang="en-US" sz="3600" dirty="0">
                <a:latin typeface="Tahoma" panose="020B0604030504040204" pitchFamily="34" charset="0"/>
                <a:ea typeface="Tahoma" panose="020B0604030504040204" pitchFamily="34" charset="0"/>
                <a:cs typeface="Tahoma" panose="020B0604030504040204" pitchFamily="34" charset="0"/>
              </a:rPr>
              <a:t> and </a:t>
            </a:r>
            <a:r>
              <a:rPr lang="en-US" sz="3600" dirty="0">
                <a:solidFill>
                  <a:srgbClr val="00B0F0"/>
                </a:solidFill>
                <a:latin typeface="Tahoma" panose="020B0604030504040204" pitchFamily="34" charset="0"/>
                <a:ea typeface="Tahoma" panose="020B0604030504040204" pitchFamily="34" charset="0"/>
                <a:cs typeface="Tahoma" panose="020B0604030504040204" pitchFamily="34" charset="0"/>
              </a:rPr>
              <a:t>individual</a:t>
            </a:r>
            <a:r>
              <a:rPr lang="en-US" sz="3600" dirty="0">
                <a:latin typeface="Tahoma" panose="020B0604030504040204" pitchFamily="34" charset="0"/>
                <a:ea typeface="Tahoma" panose="020B0604030504040204" pitchFamily="34" charset="0"/>
                <a:cs typeface="Tahoma" panose="020B0604030504040204" pitchFamily="34" charset="0"/>
              </a:rPr>
              <a:t> data.</a:t>
            </a:r>
          </a:p>
          <a:p>
            <a:pPr algn="just">
              <a:lnSpc>
                <a:spcPct val="220000"/>
              </a:lnSpc>
              <a:buFont typeface="Wingdings" panose="05000000000000000000" pitchFamily="2" charset="2"/>
              <a:buChar char="§"/>
            </a:pPr>
            <a:r>
              <a:rPr lang="en-US" sz="3600" dirty="0">
                <a:latin typeface="Tahoma" panose="020B0604030504040204" pitchFamily="34" charset="0"/>
                <a:ea typeface="Tahoma" panose="020B0604030504040204" pitchFamily="34" charset="0"/>
                <a:cs typeface="Tahoma" panose="020B0604030504040204" pitchFamily="34" charset="0"/>
              </a:rPr>
              <a:t>It is a platform and database-independent open-source tool.</a:t>
            </a:r>
          </a:p>
          <a:p>
            <a:pPr algn="just">
              <a:lnSpc>
                <a:spcPct val="220000"/>
              </a:lnSpc>
              <a:buFont typeface="Wingdings" panose="05000000000000000000" pitchFamily="2" charset="2"/>
              <a:buChar char="§"/>
            </a:pPr>
            <a:r>
              <a:rPr lang="en-US" sz="3600" dirty="0">
                <a:latin typeface="Tahoma" panose="020B0604030504040204" pitchFamily="34" charset="0"/>
                <a:ea typeface="Tahoma" panose="020B0604030504040204" pitchFamily="34" charset="0"/>
                <a:cs typeface="Tahoma" panose="020B0604030504040204" pitchFamily="34" charset="0"/>
              </a:rPr>
              <a:t>It is a generic tool that can be easily customized to fit any field that is dependent on data collected and analyzed for decision-making.</a:t>
            </a:r>
          </a:p>
          <a:p>
            <a:pPr algn="just">
              <a:lnSpc>
                <a:spcPct val="150000"/>
              </a:lnSpc>
            </a:pPr>
            <a:endParaRPr lang="en-US" dirty="0"/>
          </a:p>
          <a:p>
            <a:pPr algn="just">
              <a:lnSpc>
                <a:spcPct val="150000"/>
              </a:lnSpc>
            </a:pPr>
            <a:endParaRPr lang="en-US" dirty="0"/>
          </a:p>
          <a:p>
            <a:pPr marL="0" indent="0" algn="just">
              <a:lnSpc>
                <a:spcPct val="150000"/>
              </a:lnSpc>
              <a:buNone/>
            </a:pPr>
            <a:endParaRPr lang="en-US" dirty="0"/>
          </a:p>
        </p:txBody>
      </p:sp>
    </p:spTree>
    <p:extLst>
      <p:ext uri="{BB962C8B-B14F-4D97-AF65-F5344CB8AC3E}">
        <p14:creationId xmlns:p14="http://schemas.microsoft.com/office/powerpoint/2010/main" val="2476628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Introduction</a:t>
            </a:r>
            <a:endParaRPr lang="en-US" b="1" dirty="0"/>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270933" y="1007371"/>
            <a:ext cx="11785600" cy="5020896"/>
          </a:xfrm>
        </p:spPr>
        <p:txBody>
          <a:bodyPr>
            <a:normAutofit/>
          </a:bodyPr>
          <a:lstStyle/>
          <a:p>
            <a:pPr algn="just">
              <a:lnSpc>
                <a:spcPct val="20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It has a flexible user interface and provides easy access for field epidemiologist, planners, managers and monitoring and evaluation specialists to design and collect important data.</a:t>
            </a:r>
          </a:p>
          <a:p>
            <a:pPr algn="just">
              <a:lnSpc>
                <a:spcPct val="150000"/>
              </a:lnSpc>
            </a:pPr>
            <a:endParaRPr lang="en-US" dirty="0"/>
          </a:p>
          <a:p>
            <a:pPr algn="just">
              <a:lnSpc>
                <a:spcPct val="150000"/>
              </a:lnSpc>
            </a:pPr>
            <a:endParaRPr lang="en-US" dirty="0"/>
          </a:p>
          <a:p>
            <a:pPr marL="0" indent="0" algn="just">
              <a:lnSpc>
                <a:spcPct val="150000"/>
              </a:lnSpc>
              <a:buNone/>
            </a:pPr>
            <a:endParaRPr lang="en-US" dirty="0"/>
          </a:p>
        </p:txBody>
      </p:sp>
    </p:spTree>
    <p:extLst>
      <p:ext uri="{BB962C8B-B14F-4D97-AF65-F5344CB8AC3E}">
        <p14:creationId xmlns:p14="http://schemas.microsoft.com/office/powerpoint/2010/main" val="75142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Use of DHIS2 in HIS</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609599" y="818148"/>
            <a:ext cx="11446933" cy="5685780"/>
          </a:xfrm>
        </p:spPr>
        <p:txBody>
          <a:bodyPr>
            <a:normAutofit fontScale="62500" lnSpcReduction="20000"/>
          </a:bodyPr>
          <a:lstStyle/>
          <a:p>
            <a:pPr marL="0" indent="0">
              <a:lnSpc>
                <a:spcPct val="150000"/>
              </a:lnSpc>
              <a:buNone/>
            </a:pPr>
            <a:r>
              <a:rPr lang="en-US" sz="3800" b="1" dirty="0">
                <a:solidFill>
                  <a:schemeClr val="tx2"/>
                </a:solidFill>
                <a:latin typeface="Tahoma" panose="020B0604030504040204" pitchFamily="34" charset="0"/>
                <a:ea typeface="Tahoma" panose="020B0604030504040204" pitchFamily="34" charset="0"/>
                <a:cs typeface="Tahoma" panose="020B0604030504040204" pitchFamily="34" charset="0"/>
              </a:rPr>
              <a:t>DHIS2 supports the different facets of the information cycle, including</a:t>
            </a:r>
            <a:r>
              <a:rPr lang="en-US" sz="4200" b="1" dirty="0">
                <a:solidFill>
                  <a:schemeClr val="tx2"/>
                </a:solidFill>
                <a:ea typeface="+mj-ea"/>
              </a:rPr>
              <a:t>:</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Collecting data</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Running quality checks.</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Allow data access at multiple levels.</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Reporting.</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Making graphs, maps, and other forms of analysis.</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Enabling comparison across time (for example, previous months) and space (for example, across facilities and districts)</a:t>
            </a:r>
          </a:p>
          <a:p>
            <a:pPr algn="just">
              <a:lnSpc>
                <a:spcPct val="170000"/>
              </a:lnSpc>
              <a:buFont typeface="Wingdings" panose="05000000000000000000" pitchFamily="2" charset="2"/>
              <a:buChar char="§"/>
            </a:pPr>
            <a:r>
              <a:rPr lang="en-US" sz="3800" dirty="0">
                <a:latin typeface="Tahoma" panose="020B0604030504040204" pitchFamily="34" charset="0"/>
                <a:ea typeface="Tahoma" panose="020B0604030504040204" pitchFamily="34" charset="0"/>
                <a:cs typeface="Tahoma" panose="020B0604030504040204" pitchFamily="34" charset="0"/>
              </a:rPr>
              <a:t>See trends (displaying data in a time series to see their min and max levels).</a:t>
            </a:r>
          </a:p>
          <a:p>
            <a:pPr marL="0" indent="0" algn="just">
              <a:lnSpc>
                <a:spcPct val="150000"/>
              </a:lnSpc>
              <a:buNone/>
            </a:pPr>
            <a:endParaRPr lang="en-US" dirty="0"/>
          </a:p>
        </p:txBody>
      </p:sp>
    </p:spTree>
    <p:extLst>
      <p:ext uri="{BB962C8B-B14F-4D97-AF65-F5344CB8AC3E}">
        <p14:creationId xmlns:p14="http://schemas.microsoft.com/office/powerpoint/2010/main" val="45482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Technical Specification</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270933" y="1007371"/>
            <a:ext cx="11785600" cy="5020896"/>
          </a:xfrm>
        </p:spPr>
        <p:txBody>
          <a:bodyPr>
            <a:normAutofit fontScale="85000" lnSpcReduction="10000"/>
          </a:bodyPr>
          <a:lstStyle/>
          <a:p>
            <a:pPr algn="just">
              <a:lnSpc>
                <a:spcPct val="210000"/>
              </a:lnSpc>
              <a:buFont typeface="Wingdings" panose="05000000000000000000" pitchFamily="2" charset="2"/>
              <a:buChar char="§"/>
            </a:pPr>
            <a:r>
              <a:rPr lang="en-US" sz="3300" dirty="0">
                <a:latin typeface="Tahoma" panose="020B0604030504040204" pitchFamily="34" charset="0"/>
                <a:ea typeface="Tahoma" panose="020B0604030504040204" pitchFamily="34" charset="0"/>
                <a:cs typeface="Tahoma" panose="020B0604030504040204" pitchFamily="34" charset="0"/>
              </a:rPr>
              <a:t>DHIS2 works both </a:t>
            </a:r>
            <a:r>
              <a:rPr lang="en-US" sz="3300" dirty="0">
                <a:solidFill>
                  <a:srgbClr val="00B0F0"/>
                </a:solidFill>
                <a:latin typeface="Tahoma" panose="020B0604030504040204" pitchFamily="34" charset="0"/>
                <a:ea typeface="Tahoma" panose="020B0604030504040204" pitchFamily="34" charset="0"/>
                <a:cs typeface="Tahoma" panose="020B0604030504040204" pitchFamily="34" charset="0"/>
              </a:rPr>
              <a:t>offline</a:t>
            </a:r>
            <a:r>
              <a:rPr lang="en-US" sz="3300" dirty="0">
                <a:latin typeface="Tahoma" panose="020B0604030504040204" pitchFamily="34" charset="0"/>
                <a:ea typeface="Tahoma" panose="020B0604030504040204" pitchFamily="34" charset="0"/>
                <a:cs typeface="Tahoma" panose="020B0604030504040204" pitchFamily="34" charset="0"/>
              </a:rPr>
              <a:t> and </a:t>
            </a:r>
            <a:r>
              <a:rPr lang="en-US" sz="3300" dirty="0">
                <a:solidFill>
                  <a:srgbClr val="00B0F0"/>
                </a:solidFill>
                <a:latin typeface="Tahoma" panose="020B0604030504040204" pitchFamily="34" charset="0"/>
                <a:ea typeface="Tahoma" panose="020B0604030504040204" pitchFamily="34" charset="0"/>
                <a:cs typeface="Tahoma" panose="020B0604030504040204" pitchFamily="34" charset="0"/>
              </a:rPr>
              <a:t>online</a:t>
            </a:r>
            <a:r>
              <a:rPr lang="en-US" sz="3300" dirty="0">
                <a:latin typeface="Tahoma" panose="020B0604030504040204" pitchFamily="34" charset="0"/>
                <a:ea typeface="Tahoma" panose="020B0604030504040204" pitchFamily="34" charset="0"/>
                <a:cs typeface="Tahoma" panose="020B0604030504040204" pitchFamily="34" charset="0"/>
              </a:rPr>
              <a:t>, is easy to use, and is developed.</a:t>
            </a:r>
          </a:p>
          <a:p>
            <a:pPr algn="just">
              <a:lnSpc>
                <a:spcPct val="210000"/>
              </a:lnSpc>
              <a:buFont typeface="Wingdings" panose="05000000000000000000" pitchFamily="2" charset="2"/>
              <a:buChar char="§"/>
            </a:pPr>
            <a:r>
              <a:rPr lang="en-US" sz="3300" dirty="0">
                <a:latin typeface="Tahoma" panose="020B0604030504040204" pitchFamily="34" charset="0"/>
                <a:ea typeface="Tahoma" panose="020B0604030504040204" pitchFamily="34" charset="0"/>
                <a:cs typeface="Tahoma" panose="020B0604030504040204" pitchFamily="34" charset="0"/>
              </a:rPr>
              <a:t>DHIS2 is an </a:t>
            </a:r>
            <a:r>
              <a:rPr lang="en-US" sz="3300" dirty="0">
                <a:solidFill>
                  <a:srgbClr val="00B0F0"/>
                </a:solidFill>
                <a:latin typeface="Tahoma" panose="020B0604030504040204" pitchFamily="34" charset="0"/>
                <a:ea typeface="Tahoma" panose="020B0604030504040204" pitchFamily="34" charset="0"/>
                <a:cs typeface="Tahoma" panose="020B0604030504040204" pitchFamily="34" charset="0"/>
              </a:rPr>
              <a:t>open-source software </a:t>
            </a:r>
            <a:r>
              <a:rPr lang="en-US" sz="3300" dirty="0">
                <a:latin typeface="Tahoma" panose="020B0604030504040204" pitchFamily="34" charset="0"/>
                <a:ea typeface="Tahoma" panose="020B0604030504040204" pitchFamily="34" charset="0"/>
                <a:cs typeface="Tahoma" panose="020B0604030504040204" pitchFamily="34" charset="0"/>
              </a:rPr>
              <a:t>that can be used at no cost.</a:t>
            </a:r>
          </a:p>
          <a:p>
            <a:pPr algn="just">
              <a:lnSpc>
                <a:spcPct val="150000"/>
              </a:lnSpc>
              <a:buFont typeface="Wingdings" panose="05000000000000000000" pitchFamily="2" charset="2"/>
              <a:buChar char="§"/>
            </a:pPr>
            <a:endParaRPr lang="en-US" dirty="0"/>
          </a:p>
        </p:txBody>
      </p:sp>
    </p:spTree>
    <p:extLst>
      <p:ext uri="{BB962C8B-B14F-4D97-AF65-F5344CB8AC3E}">
        <p14:creationId xmlns:p14="http://schemas.microsoft.com/office/powerpoint/2010/main" val="73382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History of DHIS 2</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172382D9-091F-4325-B128-F8E365C05872}"/>
              </a:ext>
            </a:extLst>
          </p:cNvPr>
          <p:cNvSpPr>
            <a:spLocks noGrp="1"/>
          </p:cNvSpPr>
          <p:nvPr>
            <p:ph idx="1"/>
          </p:nvPr>
        </p:nvSpPr>
        <p:spPr>
          <a:xfrm>
            <a:off x="815926" y="1007370"/>
            <a:ext cx="10663312" cy="5194049"/>
          </a:xfrm>
        </p:spPr>
        <p:txBody>
          <a:bodyPr>
            <a:noAutofit/>
          </a:bodyPr>
          <a:lstStyle/>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DHIS 2 is developed by the Health Information Systems Program (HISP) – a University of Oslo program </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 Design to collect, process, analyze, and present data </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 first country where DHIS was piloted in is South Africa (and the first to adopt it as a national system)</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 first version of the software DHIS 1.3 and its subsequent version DHIS 1.4 </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Was implemented in some countries, including South Africa, Mozambique, Nigeria, India, and Ethiopia</a:t>
            </a:r>
          </a:p>
        </p:txBody>
      </p:sp>
    </p:spTree>
    <p:extLst>
      <p:ext uri="{BB962C8B-B14F-4D97-AF65-F5344CB8AC3E}">
        <p14:creationId xmlns:p14="http://schemas.microsoft.com/office/powerpoint/2010/main" val="3662710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History of DHIS 2</a:t>
            </a:r>
            <a:endParaRPr lang="en-US" b="1" dirty="0"/>
          </a:p>
        </p:txBody>
      </p:sp>
      <p:pic>
        <p:nvPicPr>
          <p:cNvPr id="4" name="Content Placeholder 3">
            <a:extLst>
              <a:ext uri="{FF2B5EF4-FFF2-40B4-BE49-F238E27FC236}">
                <a16:creationId xmlns:a16="http://schemas.microsoft.com/office/drawing/2014/main" id="{37CC57A5-C318-48B1-AA46-5E42ADFE54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5378" y="1008063"/>
            <a:ext cx="10747022" cy="5019675"/>
          </a:xfrm>
          <a:prstGeom prst="rect">
            <a:avLst/>
          </a:prstGeom>
        </p:spPr>
      </p:pic>
    </p:spTree>
    <p:extLst>
      <p:ext uri="{BB962C8B-B14F-4D97-AF65-F5344CB8AC3E}">
        <p14:creationId xmlns:p14="http://schemas.microsoft.com/office/powerpoint/2010/main" val="1667948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The Basics: What is DHIS2? … </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70844"/>
            <a:ext cx="10972800" cy="5079119"/>
          </a:xfrm>
        </p:spPr>
        <p:txBody>
          <a:bodyPr/>
          <a:lstStyle/>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Capturing, analysis, and dissemination of data</a:t>
            </a:r>
          </a:p>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Handles routine data, events, and surveys</a:t>
            </a:r>
          </a:p>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Communication (messaging and feedback)</a:t>
            </a:r>
          </a:p>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Open source, web-based software platform</a:t>
            </a:r>
          </a:p>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Global network initiative with local nodes.</a:t>
            </a:r>
          </a:p>
        </p:txBody>
      </p:sp>
    </p:spTree>
    <p:extLst>
      <p:ext uri="{BB962C8B-B14F-4D97-AF65-F5344CB8AC3E}">
        <p14:creationId xmlns:p14="http://schemas.microsoft.com/office/powerpoint/2010/main" val="95662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The Building Blocks</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70844"/>
            <a:ext cx="10972800" cy="4854223"/>
          </a:xfrm>
        </p:spPr>
        <p:txBody>
          <a:bodyPr/>
          <a:lstStyle/>
          <a:p>
            <a:pPr marL="0" indent="0" algn="ctr">
              <a:lnSpc>
                <a:spcPct val="200000"/>
              </a:lnSpc>
              <a:buNone/>
            </a:pPr>
            <a:r>
              <a:rPr lang="en-US" sz="8000" dirty="0">
                <a:solidFill>
                  <a:schemeClr val="tx2"/>
                </a:solidFill>
                <a:latin typeface="Tahoma" panose="020B0604030504040204" pitchFamily="34" charset="0"/>
                <a:ea typeface="Tahoma" panose="020B0604030504040204" pitchFamily="34" charset="0"/>
                <a:cs typeface="Tahoma" panose="020B0604030504040204" pitchFamily="34" charset="0"/>
              </a:rPr>
              <a:t>The Building Blocks</a:t>
            </a:r>
          </a:p>
        </p:txBody>
      </p:sp>
      <p:pic>
        <p:nvPicPr>
          <p:cNvPr id="5" name="Picture 4"/>
          <p:cNvPicPr>
            <a:picLocks noChangeAspect="1"/>
          </p:cNvPicPr>
          <p:nvPr/>
        </p:nvPicPr>
        <p:blipFill>
          <a:blip r:embed="rId2"/>
          <a:stretch>
            <a:fillRect/>
          </a:stretch>
        </p:blipFill>
        <p:spPr>
          <a:xfrm>
            <a:off x="2867378" y="2923822"/>
            <a:ext cx="5847644" cy="2901245"/>
          </a:xfrm>
          <a:prstGeom prst="rect">
            <a:avLst/>
          </a:prstGeom>
        </p:spPr>
      </p:pic>
    </p:spTree>
    <p:extLst>
      <p:ext uri="{BB962C8B-B14F-4D97-AF65-F5344CB8AC3E}">
        <p14:creationId xmlns:p14="http://schemas.microsoft.com/office/powerpoint/2010/main" val="874113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Dimensions in DHIS2</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70844"/>
            <a:ext cx="10616418" cy="5170312"/>
          </a:xfrm>
        </p:spPr>
        <p:txBody>
          <a:bodyPr/>
          <a:lstStyle/>
          <a:p>
            <a:pPr>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A data value or a data captured in DHIS 2 needs at least three dimensions that answer three questions: 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WHERE</a:t>
            </a:r>
            <a:r>
              <a:rPr lang="en-US" sz="2400" dirty="0">
                <a:latin typeface="Tahoma" panose="020B0604030504040204" pitchFamily="34" charset="0"/>
                <a:ea typeface="Tahoma" panose="020B0604030504040204" pitchFamily="34" charset="0"/>
                <a:cs typeface="Tahoma" panose="020B0604030504040204" pitchFamily="34" charset="0"/>
              </a:rPr>
              <a:t>, 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WHEN</a:t>
            </a:r>
            <a:r>
              <a:rPr lang="en-US" sz="2400" dirty="0">
                <a:latin typeface="Tahoma" panose="020B0604030504040204" pitchFamily="34" charset="0"/>
                <a:ea typeface="Tahoma" panose="020B0604030504040204" pitchFamily="34" charset="0"/>
                <a:cs typeface="Tahoma" panose="020B0604030504040204" pitchFamily="34" charset="0"/>
              </a:rPr>
              <a:t> and 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WHAT</a:t>
            </a:r>
            <a:r>
              <a:rPr lang="en-US" sz="2400" b="1" dirty="0">
                <a:latin typeface="Tahoma" panose="020B0604030504040204" pitchFamily="34" charset="0"/>
                <a:ea typeface="Tahoma" panose="020B0604030504040204" pitchFamily="34" charset="0"/>
                <a:cs typeface="Tahoma" panose="020B0604030504040204" pitchFamily="34" charset="0"/>
              </a:rPr>
              <a:t>.</a:t>
            </a:r>
          </a:p>
          <a:p>
            <a:pPr>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Consider these questions: </a:t>
            </a:r>
          </a:p>
          <a:p>
            <a:pPr lvl="1">
              <a:lnSpc>
                <a:spcPct val="200000"/>
              </a:lnSpc>
              <a:buFont typeface="Wingdings" panose="05000000000000000000" pitchFamily="2" charset="2"/>
              <a:buChar char="ü"/>
            </a:pPr>
            <a:r>
              <a:rPr lang="en-US" sz="2400" dirty="0">
                <a:latin typeface="Tahoma" panose="020B0604030504040204" pitchFamily="34" charset="0"/>
                <a:ea typeface="Tahoma" panose="020B0604030504040204" pitchFamily="34" charset="0"/>
                <a:cs typeface="Tahoma" panose="020B0604030504040204" pitchFamily="34" charset="0"/>
              </a:rPr>
              <a:t>Number of Malaria inpatient cases </a:t>
            </a:r>
          </a:p>
          <a:p>
            <a:pPr lvl="1" algn="just">
              <a:lnSpc>
                <a:spcPct val="200000"/>
              </a:lnSpc>
              <a:buFont typeface="Wingdings" panose="05000000000000000000" pitchFamily="2" charset="2"/>
              <a:buChar char="ü"/>
            </a:pPr>
            <a:r>
              <a:rPr lang="en-US" sz="2400" dirty="0">
                <a:latin typeface="Tahoma" panose="020B0604030504040204" pitchFamily="34" charset="0"/>
                <a:ea typeface="Tahoma" panose="020B0604030504040204" pitchFamily="34" charset="0"/>
                <a:cs typeface="Tahoma" panose="020B0604030504040204" pitchFamily="34" charset="0"/>
              </a:rPr>
              <a:t>Number of cholera death</a:t>
            </a:r>
          </a:p>
          <a:p>
            <a:pPr lvl="1">
              <a:buFont typeface="Wingdings" panose="05000000000000000000" pitchFamily="2" charset="2"/>
              <a:buChar char="§"/>
            </a:pPr>
            <a:endParaRPr lang="en-US" sz="3600" dirty="0"/>
          </a:p>
          <a:p>
            <a:pPr marL="0" indent="0" algn="ctr">
              <a:lnSpc>
                <a:spcPct val="200000"/>
              </a:lnSpc>
              <a:buNone/>
            </a:pPr>
            <a:endParaRPr lang="en-US" sz="8000" dirty="0">
              <a:solidFill>
                <a:schemeClr val="tx2"/>
              </a:solidFill>
            </a:endParaRPr>
          </a:p>
        </p:txBody>
      </p:sp>
    </p:spTree>
    <p:extLst>
      <p:ext uri="{BB962C8B-B14F-4D97-AF65-F5344CB8AC3E}">
        <p14:creationId xmlns:p14="http://schemas.microsoft.com/office/powerpoint/2010/main" val="145577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Dimensions in DHIS2</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70844"/>
            <a:ext cx="10972800" cy="4854223"/>
          </a:xfrm>
        </p:spPr>
        <p:txBody>
          <a:bodyPr/>
          <a:lstStyle/>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All of them cannot make sense unless they are collected for a specific health facility </a:t>
            </a:r>
            <a:r>
              <a:rPr lang="en-US" sz="2400" b="1" dirty="0">
                <a:latin typeface="Tahoma" panose="020B0604030504040204" pitchFamily="34" charset="0"/>
                <a:ea typeface="Tahoma" panose="020B0604030504040204" pitchFamily="34" charset="0"/>
                <a:cs typeface="Tahoma" panose="020B0604030504040204" pitchFamily="34" charset="0"/>
              </a:rPr>
              <a:t>[the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Where</a:t>
            </a:r>
            <a:r>
              <a:rPr lang="en-US" sz="2400" b="1" dirty="0">
                <a:latin typeface="Tahoma" panose="020B0604030504040204" pitchFamily="34" charset="0"/>
                <a:ea typeface="Tahoma" panose="020B0604030504040204" pitchFamily="34" charset="0"/>
                <a:cs typeface="Tahoma" panose="020B0604030504040204" pitchFamily="34" charset="0"/>
              </a:rPr>
              <a:t>’]</a:t>
            </a:r>
            <a:r>
              <a:rPr lang="en-US" sz="2400" dirty="0">
                <a:latin typeface="Tahoma" panose="020B0604030504040204" pitchFamily="34" charset="0"/>
                <a:ea typeface="Tahoma" panose="020B0604030504040204" pitchFamily="34" charset="0"/>
                <a:cs typeface="Tahoma" panose="020B0604030504040204" pitchFamily="34" charset="0"/>
              </a:rPr>
              <a:t> at a specific time </a:t>
            </a:r>
            <a:r>
              <a:rPr lang="en-US" sz="2400" b="1" dirty="0">
                <a:latin typeface="Tahoma" panose="020B0604030504040204" pitchFamily="34" charset="0"/>
                <a:ea typeface="Tahoma" panose="020B0604030504040204" pitchFamily="34" charset="0"/>
                <a:cs typeface="Tahoma" panose="020B0604030504040204" pitchFamily="34" charset="0"/>
              </a:rPr>
              <a:t>[the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When</a:t>
            </a:r>
            <a:r>
              <a:rPr lang="en-US" sz="2400" b="1" dirty="0">
                <a:latin typeface="Tahoma" panose="020B0604030504040204" pitchFamily="34" charset="0"/>
                <a:ea typeface="Tahoma" panose="020B0604030504040204" pitchFamily="34" charset="0"/>
                <a:cs typeface="Tahoma" panose="020B0604030504040204" pitchFamily="34" charset="0"/>
              </a:rPr>
              <a:t>’] </a:t>
            </a:r>
            <a:r>
              <a:rPr lang="en-US" sz="2400" dirty="0">
                <a:latin typeface="Tahoma" panose="020B0604030504040204" pitchFamily="34" charset="0"/>
                <a:ea typeface="Tahoma" panose="020B0604030504040204" pitchFamily="34" charset="0"/>
                <a:cs typeface="Tahoma" panose="020B0604030504040204" pitchFamily="34" charset="0"/>
              </a:rPr>
              <a:t>– while they answer the ‘</a:t>
            </a:r>
            <a:r>
              <a:rPr lang="en-US" sz="2400" b="1" dirty="0">
                <a:solidFill>
                  <a:schemeClr val="tx2"/>
                </a:solidFill>
                <a:latin typeface="Tahoma" panose="020B0604030504040204" pitchFamily="34" charset="0"/>
                <a:ea typeface="Tahoma" panose="020B0604030504040204" pitchFamily="34" charset="0"/>
                <a:cs typeface="Tahoma" panose="020B0604030504040204" pitchFamily="34" charset="0"/>
              </a:rPr>
              <a:t>What</a:t>
            </a:r>
            <a:r>
              <a:rPr lang="en-US" sz="2400" dirty="0">
                <a:latin typeface="Tahoma" panose="020B0604030504040204" pitchFamily="34" charset="0"/>
                <a:ea typeface="Tahoma" panose="020B0604030504040204" pitchFamily="34" charset="0"/>
                <a:cs typeface="Tahoma" panose="020B0604030504040204" pitchFamily="34" charset="0"/>
              </a:rPr>
              <a:t>’ question.</a:t>
            </a:r>
          </a:p>
          <a:p>
            <a:pPr marL="0" indent="0" algn="ctr">
              <a:lnSpc>
                <a:spcPct val="200000"/>
              </a:lnSpc>
              <a:buNone/>
            </a:pPr>
            <a:endParaRPr lang="en-US" sz="8000" dirty="0">
              <a:solidFill>
                <a:schemeClr val="tx2"/>
              </a:solidFill>
            </a:endParaRPr>
          </a:p>
        </p:txBody>
      </p:sp>
    </p:spTree>
    <p:extLst>
      <p:ext uri="{BB962C8B-B14F-4D97-AF65-F5344CB8AC3E}">
        <p14:creationId xmlns:p14="http://schemas.microsoft.com/office/powerpoint/2010/main" val="2029762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The WHERE: </a:t>
            </a:r>
            <a:r>
              <a:rPr lang="en-US" dirty="0">
                <a:solidFill>
                  <a:srgbClr val="00B0F0"/>
                </a:solidFill>
                <a:latin typeface="Tahoma" panose="020B0604030504040204" pitchFamily="34" charset="0"/>
                <a:ea typeface="Tahoma" panose="020B0604030504040204" pitchFamily="34" charset="0"/>
                <a:cs typeface="Tahoma" panose="020B0604030504040204" pitchFamily="34" charset="0"/>
              </a:rPr>
              <a:t>Organization units</a:t>
            </a:r>
            <a:endParaRPr lang="en-US" b="1"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70844"/>
            <a:ext cx="10714892" cy="5125156"/>
          </a:xfrm>
        </p:spPr>
        <p:txBody>
          <a:bodyPr/>
          <a:lstStyle/>
          <a:p>
            <a:pPr algn="just">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Organization unit : hierarchy of health facilities in a specific country or locality</a:t>
            </a:r>
          </a:p>
          <a:p>
            <a:pPr lvl="1" algn="just">
              <a:buFont typeface="Courier New" panose="02070309020205020404" pitchFamily="49" charset="0"/>
              <a:buChar char="o"/>
            </a:pPr>
            <a:r>
              <a:rPr lang="en-US" sz="2400" dirty="0">
                <a:latin typeface="Tahoma" panose="020B0604030504040204" pitchFamily="34" charset="0"/>
                <a:ea typeface="Tahoma" panose="020B0604030504040204" pitchFamily="34" charset="0"/>
                <a:cs typeface="Tahoma" panose="020B0604030504040204" pitchFamily="34" charset="0"/>
              </a:rPr>
              <a:t>Ex-1:Ethiopia</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Eth Somali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Afder</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Hargelle</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Wereda</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Dharahaye</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PHCU  Harder HP</a:t>
            </a:r>
          </a:p>
          <a:p>
            <a:pPr lvl="1" algn="just">
              <a:buFont typeface="Courier New" panose="02070309020205020404" pitchFamily="49" charset="0"/>
              <a:buChar char="o"/>
            </a:pPr>
            <a:r>
              <a:rPr lang="en-US" sz="2400" dirty="0">
                <a:latin typeface="Tahoma" panose="020B0604030504040204" pitchFamily="34" charset="0"/>
                <a:ea typeface="Tahoma" panose="020B0604030504040204" pitchFamily="34" charset="0"/>
                <a:cs typeface="Tahoma" panose="020B0604030504040204" pitchFamily="34" charset="0"/>
              </a:rPr>
              <a:t>Ex-2: Ethiopia</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Tigray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Mekelle</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ZHD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Ayder</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4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Referall</a:t>
            </a:r>
            <a:r>
              <a:rPr lang="en-US" sz="24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Hospital</a:t>
            </a:r>
          </a:p>
          <a:p>
            <a:pPr lvl="1" algn="just">
              <a:buFont typeface="Wingdings" panose="05000000000000000000" pitchFamily="2" charset="2"/>
              <a:buChar char="§"/>
            </a:pPr>
            <a:endParaRPr lang="en-US" sz="2400"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DHIS provides tools to add, edit, delete, move or merge organization units </a:t>
            </a:r>
          </a:p>
          <a:p>
            <a:pPr lvl="2" algn="just">
              <a:buFont typeface="Courier New" panose="02070309020205020404" pitchFamily="49" charset="0"/>
              <a:buChar char="o"/>
            </a:pPr>
            <a:r>
              <a:rPr lang="en-US" dirty="0">
                <a:latin typeface="Tahoma" panose="020B0604030504040204" pitchFamily="34" charset="0"/>
                <a:ea typeface="Tahoma" panose="020B0604030504040204" pitchFamily="34" charset="0"/>
                <a:cs typeface="Tahoma" panose="020B0604030504040204" pitchFamily="34" charset="0"/>
              </a:rPr>
              <a:t>in case of new facilities, name changes, removal, moving of facilities or admin units to </a:t>
            </a:r>
            <a:r>
              <a:rPr lang="en-US" b="1" dirty="0">
                <a:latin typeface="Tahoma" panose="020B0604030504040204" pitchFamily="34" charset="0"/>
                <a:ea typeface="Tahoma" panose="020B0604030504040204" pitchFamily="34" charset="0"/>
                <a:cs typeface="Tahoma" panose="020B0604030504040204" pitchFamily="34" charset="0"/>
              </a:rPr>
              <a:t>safeguard historical data</a:t>
            </a:r>
          </a:p>
          <a:p>
            <a:pPr marL="0" indent="0" algn="just">
              <a:buNone/>
            </a:pPr>
            <a:endParaRPr lang="en-US" sz="2400" b="1"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Administrators of DHIS 2 or other people with relevant authorities can create the organization unit structure in DHIS 2.</a:t>
            </a:r>
          </a:p>
          <a:p>
            <a:pPr algn="just">
              <a:lnSpc>
                <a:spcPct val="150000"/>
              </a:lnSpc>
              <a:buFont typeface="Wingdings" panose="05000000000000000000" pitchFamily="2" charset="2"/>
              <a:buChar char="§"/>
            </a:pPr>
            <a:endParaRPr lang="en-US" sz="8000" dirty="0">
              <a:solidFill>
                <a:schemeClr val="tx2"/>
              </a:solidFill>
            </a:endParaRPr>
          </a:p>
        </p:txBody>
      </p:sp>
    </p:spTree>
    <p:extLst>
      <p:ext uri="{BB962C8B-B14F-4D97-AF65-F5344CB8AC3E}">
        <p14:creationId xmlns:p14="http://schemas.microsoft.com/office/powerpoint/2010/main" val="643538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The WHEN: </a:t>
            </a:r>
            <a:r>
              <a:rPr lang="en-US" dirty="0">
                <a:solidFill>
                  <a:srgbClr val="00B0F0"/>
                </a:solidFill>
              </a:rPr>
              <a:t>Periods</a:t>
            </a:r>
          </a:p>
        </p:txBody>
      </p:sp>
      <p:sp>
        <p:nvSpPr>
          <p:cNvPr id="3" name="Content Placeholder 2"/>
          <p:cNvSpPr>
            <a:spLocks noGrp="1"/>
          </p:cNvSpPr>
          <p:nvPr>
            <p:ph idx="1"/>
          </p:nvPr>
        </p:nvSpPr>
        <p:spPr>
          <a:xfrm>
            <a:off x="900332" y="970844"/>
            <a:ext cx="10311619" cy="5125156"/>
          </a:xfrm>
        </p:spPr>
        <p:txBody>
          <a:bodyPr/>
          <a:lstStyle/>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DHIS 2 has 17 pre-defined frequencies/period-types for data collection and analysis: </a:t>
            </a:r>
          </a:p>
          <a:p>
            <a:pPr lvl="1" algn="just">
              <a:lnSpc>
                <a:spcPct val="1500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Daily, weekly (and variants), monthly, bimonthly, quarterly, six-monthly (and variants), yearly (and variants)</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It also has </a:t>
            </a:r>
            <a:r>
              <a:rPr lang="en-US" sz="2400" b="1" dirty="0">
                <a:latin typeface="Tahoma" panose="020B0604030504040204" pitchFamily="34" charset="0"/>
                <a:ea typeface="Tahoma" panose="020B0604030504040204" pitchFamily="34" charset="0"/>
                <a:cs typeface="Tahoma" panose="020B0604030504040204" pitchFamily="34" charset="0"/>
              </a:rPr>
              <a:t>relative periods </a:t>
            </a:r>
            <a:r>
              <a:rPr lang="en-US" sz="2400" dirty="0">
                <a:latin typeface="Tahoma" panose="020B0604030504040204" pitchFamily="34" charset="0"/>
                <a:ea typeface="Tahoma" panose="020B0604030504040204" pitchFamily="34" charset="0"/>
                <a:cs typeface="Tahoma" panose="020B0604030504040204" pitchFamily="34" charset="0"/>
              </a:rPr>
              <a:t>used for analyses purposes– e.g., yesterday, this week, last 12 months, last 3 quarters, last 6 months, last 5 years. </a:t>
            </a:r>
          </a:p>
        </p:txBody>
      </p:sp>
    </p:spTree>
    <p:extLst>
      <p:ext uri="{BB962C8B-B14F-4D97-AF65-F5344CB8AC3E}">
        <p14:creationId xmlns:p14="http://schemas.microsoft.com/office/powerpoint/2010/main" val="2533153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The WHEN: </a:t>
            </a:r>
            <a:r>
              <a:rPr lang="en-US" dirty="0">
                <a:solidFill>
                  <a:srgbClr val="C00000"/>
                </a:solidFill>
              </a:rPr>
              <a:t>Relative</a:t>
            </a:r>
            <a:r>
              <a:rPr lang="en-US" dirty="0"/>
              <a:t> </a:t>
            </a:r>
            <a:r>
              <a:rPr lang="en-US" dirty="0">
                <a:solidFill>
                  <a:srgbClr val="C00000"/>
                </a:solidFill>
              </a:rPr>
              <a:t>Periods …</a:t>
            </a:r>
            <a:endParaRPr lang="en-US" dirty="0">
              <a:solidFill>
                <a:srgbClr val="00B0F0"/>
              </a:solidFill>
            </a:endParaRPr>
          </a:p>
        </p:txBody>
      </p:sp>
      <p:pic>
        <p:nvPicPr>
          <p:cNvPr id="5" name="Content Placeholder 4"/>
          <p:cNvPicPr>
            <a:picLocks noGrp="1"/>
          </p:cNvPicPr>
          <p:nvPr>
            <p:ph idx="1"/>
          </p:nvPr>
        </p:nvPicPr>
        <p:blipFill rotWithShape="1">
          <a:blip r:embed="rId2"/>
          <a:srcRect t="11859" r="53409" b="6648"/>
          <a:stretch/>
        </p:blipFill>
        <p:spPr bwMode="auto">
          <a:xfrm>
            <a:off x="609600" y="976489"/>
            <a:ext cx="11221156" cy="49831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02219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The WHEN: </a:t>
            </a:r>
            <a:r>
              <a:rPr lang="en-US" dirty="0">
                <a:solidFill>
                  <a:srgbClr val="FF0000"/>
                </a:solidFill>
              </a:rPr>
              <a:t>Fixed</a:t>
            </a:r>
            <a:r>
              <a:rPr lang="en-US" dirty="0"/>
              <a:t> </a:t>
            </a:r>
            <a:r>
              <a:rPr lang="en-US" dirty="0">
                <a:solidFill>
                  <a:srgbClr val="C00000"/>
                </a:solidFill>
              </a:rPr>
              <a:t>Periods …</a:t>
            </a:r>
            <a:endParaRPr lang="en-US" dirty="0">
              <a:solidFill>
                <a:srgbClr val="00B0F0"/>
              </a:solidFill>
            </a:endParaRPr>
          </a:p>
        </p:txBody>
      </p:sp>
      <p:pic>
        <p:nvPicPr>
          <p:cNvPr id="4" name="Content Placeholder 3"/>
          <p:cNvPicPr>
            <a:picLocks noGrp="1"/>
          </p:cNvPicPr>
          <p:nvPr>
            <p:ph idx="1"/>
          </p:nvPr>
        </p:nvPicPr>
        <p:blipFill rotWithShape="1">
          <a:blip r:embed="rId2"/>
          <a:srcRect l="3098" t="10446" r="2671" b="21748"/>
          <a:stretch/>
        </p:blipFill>
        <p:spPr bwMode="auto">
          <a:xfrm>
            <a:off x="609600" y="1066362"/>
            <a:ext cx="11142133" cy="49348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64951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The WHAT: </a:t>
            </a:r>
            <a:r>
              <a:rPr lang="en-US" dirty="0">
                <a:solidFill>
                  <a:srgbClr val="C00000"/>
                </a:solidFill>
                <a:latin typeface="Tahoma" panose="020B0604030504040204" pitchFamily="34" charset="0"/>
                <a:ea typeface="Tahoma" panose="020B0604030504040204" pitchFamily="34" charset="0"/>
                <a:cs typeface="Tahoma" panose="020B0604030504040204" pitchFamily="34" charset="0"/>
              </a:rPr>
              <a:t>Data Elements</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962526"/>
            <a:ext cx="10335065" cy="5383272"/>
          </a:xfrm>
        </p:spPr>
        <p:txBody>
          <a:bodyPr/>
          <a:lstStyle/>
          <a:p>
            <a:pPr marL="0" indent="0" algn="just">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Examples of data elements include</a:t>
            </a:r>
          </a:p>
          <a:p>
            <a:pPr lvl="1" algn="just">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Number of Malaria inpatient cases</a:t>
            </a:r>
          </a:p>
          <a:p>
            <a:pPr lvl="1" algn="just">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Number of cholera death</a:t>
            </a:r>
          </a:p>
          <a:p>
            <a:pPr marL="0" indent="0" algn="just">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Data elements in DHIS2 can be of:</a:t>
            </a:r>
          </a:p>
          <a:p>
            <a:pPr lvl="1"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Either aggregate or individual[tracker] domain; </a:t>
            </a:r>
          </a:p>
          <a:p>
            <a:pPr lvl="1"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Data type Number, Text, Yes/No, Date value, etc. </a:t>
            </a:r>
          </a:p>
          <a:p>
            <a:pPr lvl="1"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Can have Average, Sum[Sum in Org Unit Hierarchy], Count, rate, ratio, Standard Deviation, Variance, Minimum or Maximum aggregation operators.</a:t>
            </a:r>
          </a:p>
        </p:txBody>
      </p:sp>
    </p:spTree>
    <p:extLst>
      <p:ext uri="{BB962C8B-B14F-4D97-AF65-F5344CB8AC3E}">
        <p14:creationId xmlns:p14="http://schemas.microsoft.com/office/powerpoint/2010/main" val="2822473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23825" y="2489982"/>
            <a:ext cx="11966575" cy="1822375"/>
          </a:xfrm>
        </p:spPr>
        <p:txBody>
          <a:bodyPr>
            <a:normAutofit/>
          </a:bodyPr>
          <a:lstStyle/>
          <a:p>
            <a:pPr marL="0" indent="0" algn="ctr">
              <a:buNone/>
            </a:pPr>
            <a:r>
              <a:rPr lang="en-US" sz="7200" b="1" dirty="0">
                <a:solidFill>
                  <a:srgbClr val="002060"/>
                </a:solidFill>
              </a:rPr>
              <a:t>Indicators</a:t>
            </a:r>
          </a:p>
        </p:txBody>
      </p:sp>
    </p:spTree>
    <p:extLst>
      <p:ext uri="{BB962C8B-B14F-4D97-AF65-F5344CB8AC3E}">
        <p14:creationId xmlns:p14="http://schemas.microsoft.com/office/powerpoint/2010/main" val="2581566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GB" dirty="0"/>
              <a:t>Indicator</a:t>
            </a:r>
            <a:endParaRPr lang="en-US" sz="3600" dirty="0">
              <a:solidFill>
                <a:srgbClr val="00B0F0"/>
              </a:solidFill>
            </a:endParaRPr>
          </a:p>
        </p:txBody>
      </p:sp>
      <p:pic>
        <p:nvPicPr>
          <p:cNvPr id="4" name="Shape 67"/>
          <p:cNvPicPr preferRelativeResize="0">
            <a:picLocks noGrp="1"/>
          </p:cNvPicPr>
          <p:nvPr>
            <p:ph idx="1"/>
          </p:nvPr>
        </p:nvPicPr>
        <p:blipFill>
          <a:blip r:embed="rId2">
            <a:alphaModFix/>
          </a:blip>
          <a:stretch>
            <a:fillRect/>
          </a:stretch>
        </p:blipFill>
        <p:spPr>
          <a:xfrm>
            <a:off x="496710" y="1704622"/>
            <a:ext cx="11221157" cy="4345341"/>
          </a:xfrm>
          <a:prstGeom prst="rect">
            <a:avLst/>
          </a:prstGeom>
          <a:noFill/>
          <a:ln>
            <a:noFill/>
          </a:ln>
        </p:spPr>
      </p:pic>
      <p:sp>
        <p:nvSpPr>
          <p:cNvPr id="5" name="Shape 65"/>
          <p:cNvSpPr txBox="1">
            <a:spLocks/>
          </p:cNvSpPr>
          <p:nvPr/>
        </p:nvSpPr>
        <p:spPr bwMode="auto">
          <a:xfrm>
            <a:off x="207800" y="941022"/>
            <a:ext cx="11776400" cy="7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rtlCol="0" anchor="t" anchorCtr="0" compatLnSpc="1">
            <a:prstTxWarp prst="textNoShape">
              <a:avLst/>
            </a:prstTxWarp>
            <a:noAutofit/>
          </a:bodyPr>
          <a:lstStyle>
            <a:lvl1pPr algn="ctr" rtl="0" eaLnBrk="0" fontAlgn="base" hangingPunct="0">
              <a:spcBef>
                <a:spcPct val="0"/>
              </a:spcBef>
              <a:spcAft>
                <a:spcPct val="0"/>
              </a:spcAft>
              <a:defRPr sz="40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spcBef>
                <a:spcPts val="640"/>
              </a:spcBef>
            </a:pPr>
            <a:r>
              <a:rPr lang="en-GB" dirty="0">
                <a:latin typeface="+mj-lt"/>
                <a:cs typeface="+mj-cs"/>
              </a:rPr>
              <a:t>Moving</a:t>
            </a:r>
            <a:r>
              <a:rPr lang="en-GB" sz="3600" dirty="0"/>
              <a:t> </a:t>
            </a:r>
            <a:r>
              <a:rPr lang="en-GB" dirty="0">
                <a:latin typeface="+mj-lt"/>
                <a:cs typeface="+mj-cs"/>
              </a:rPr>
              <a:t>from Data elements to Indicators: Context</a:t>
            </a:r>
          </a:p>
        </p:txBody>
      </p:sp>
    </p:spTree>
    <p:extLst>
      <p:ext uri="{BB962C8B-B14F-4D97-AF65-F5344CB8AC3E}">
        <p14:creationId xmlns:p14="http://schemas.microsoft.com/office/powerpoint/2010/main" val="2727295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Indicator</a:t>
            </a:r>
            <a:endParaRPr lang="en-US" dirty="0">
              <a:solidFill>
                <a:srgbClr val="00B0F0"/>
              </a:solidFill>
            </a:endParaRPr>
          </a:p>
        </p:txBody>
      </p:sp>
      <p:sp>
        <p:nvSpPr>
          <p:cNvPr id="3" name="Content Placeholder 2"/>
          <p:cNvSpPr>
            <a:spLocks noGrp="1"/>
          </p:cNvSpPr>
          <p:nvPr>
            <p:ph idx="1"/>
          </p:nvPr>
        </p:nvSpPr>
        <p:spPr>
          <a:xfrm>
            <a:off x="112889" y="1021645"/>
            <a:ext cx="11966222" cy="4983163"/>
          </a:xfrm>
        </p:spPr>
        <p:txBody>
          <a:bodyPr/>
          <a:lstStyle/>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Indicators are variables that help to measure changes, directly or indirectly</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Indicators are tools that help comparison of performance across different facilities or different periods.</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While data elements can show raw data, indicators are </a:t>
            </a:r>
            <a:r>
              <a:rPr lang="en-US" sz="2400" dirty="0">
                <a:solidFill>
                  <a:srgbClr val="00B0F0"/>
                </a:solidFill>
                <a:latin typeface="Tahoma" panose="020B0604030504040204" pitchFamily="34" charset="0"/>
                <a:ea typeface="Tahoma" panose="020B0604030504040204" pitchFamily="34" charset="0"/>
                <a:cs typeface="Tahoma" panose="020B0604030504040204" pitchFamily="34" charset="0"/>
              </a:rPr>
              <a:t>calculated from data elements.</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There are different type of indicators ( number, proportion, rate and ratio).</a:t>
            </a:r>
          </a:p>
        </p:txBody>
      </p:sp>
    </p:spTree>
    <p:extLst>
      <p:ext uri="{BB962C8B-B14F-4D97-AF65-F5344CB8AC3E}">
        <p14:creationId xmlns:p14="http://schemas.microsoft.com/office/powerpoint/2010/main" val="3948401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23825" y="3025423"/>
            <a:ext cx="11966575" cy="1286934"/>
          </a:xfrm>
        </p:spPr>
        <p:txBody>
          <a:bodyPr>
            <a:normAutofit/>
          </a:bodyPr>
          <a:lstStyle/>
          <a:p>
            <a:pPr marL="0" indent="0" algn="ctr">
              <a:buNone/>
            </a:pPr>
            <a:r>
              <a:rPr lang="en-US" sz="6000" b="1" dirty="0">
                <a:solidFill>
                  <a:srgbClr val="002060"/>
                </a:solidFill>
                <a:latin typeface="Tahoma" panose="020B0604030504040204" pitchFamily="34" charset="0"/>
                <a:ea typeface="Tahoma" panose="020B0604030504040204" pitchFamily="34" charset="0"/>
                <a:cs typeface="Tahoma" panose="020B0604030504040204" pitchFamily="34" charset="0"/>
              </a:rPr>
              <a:t>Getting Started DHIS2</a:t>
            </a:r>
          </a:p>
        </p:txBody>
      </p:sp>
    </p:spTree>
    <p:extLst>
      <p:ext uri="{BB962C8B-B14F-4D97-AF65-F5344CB8AC3E}">
        <p14:creationId xmlns:p14="http://schemas.microsoft.com/office/powerpoint/2010/main" val="3198418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How to Access DHIS2</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889" y="1021645"/>
            <a:ext cx="11966222" cy="5119511"/>
          </a:xfrm>
        </p:spPr>
        <p:txBody>
          <a:bodyPr/>
          <a:lstStyle/>
          <a:p>
            <a:pPr algn="just">
              <a:lnSpc>
                <a:spcPct val="20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To access the EPHI PHEM Data entry/Production server: </a:t>
            </a:r>
          </a:p>
          <a:p>
            <a:pPr algn="just">
              <a:lnSpc>
                <a:spcPct val="200000"/>
              </a:lnSpc>
              <a:buFont typeface="Wingdings" panose="05000000000000000000" pitchFamily="2" charset="2"/>
              <a:buChar char="§"/>
            </a:pPr>
            <a:r>
              <a:rPr lang="en-US" sz="2800" dirty="0">
                <a:solidFill>
                  <a:srgbClr val="00B0F0"/>
                </a:solidFill>
                <a:latin typeface="Tahoma" panose="020B0604030504040204" pitchFamily="34" charset="0"/>
                <a:ea typeface="Tahoma" panose="020B0604030504040204" pitchFamily="34" charset="0"/>
                <a:cs typeface="Tahoma" panose="020B0604030504040204" pitchFamily="34" charset="0"/>
              </a:rPr>
              <a:t>URL</a:t>
            </a:r>
            <a:r>
              <a:rPr lang="en-US" sz="2800"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hlinkClick r:id="rId2"/>
              </a:rPr>
              <a:t>https://staging.ephi.gov.et</a:t>
            </a:r>
            <a:endParaRPr lang="en-US" sz="2800" dirty="0">
              <a:latin typeface="Tahoma" panose="020B0604030504040204" pitchFamily="34" charset="0"/>
              <a:ea typeface="Tahoma" panose="020B0604030504040204" pitchFamily="34" charset="0"/>
              <a:cs typeface="Tahoma" panose="020B0604030504040204" pitchFamily="34" charset="0"/>
            </a:endParaRPr>
          </a:p>
          <a:p>
            <a:pPr algn="just">
              <a:lnSpc>
                <a:spcPct val="200000"/>
              </a:lnSpc>
              <a:buFont typeface="Wingdings" panose="05000000000000000000" pitchFamily="2" charset="2"/>
              <a:buChar char="§"/>
            </a:pPr>
            <a:r>
              <a:rPr lang="en-US" sz="2800" dirty="0">
                <a:latin typeface="Tahoma" panose="020B0604030504040204" pitchFamily="34" charset="0"/>
                <a:ea typeface="Tahoma" panose="020B0604030504040204" pitchFamily="34" charset="0"/>
                <a:cs typeface="Tahoma" panose="020B0604030504040204" pitchFamily="34" charset="0"/>
              </a:rPr>
              <a:t>Once the site has loaded, to log in, write the </a:t>
            </a:r>
            <a:r>
              <a:rPr lang="en-US" sz="2800" dirty="0">
                <a:solidFill>
                  <a:srgbClr val="00B0F0"/>
                </a:solidFill>
                <a:latin typeface="Tahoma" panose="020B0604030504040204" pitchFamily="34" charset="0"/>
                <a:ea typeface="Tahoma" panose="020B0604030504040204" pitchFamily="34" charset="0"/>
                <a:cs typeface="Tahoma" panose="020B0604030504040204" pitchFamily="34" charset="0"/>
              </a:rPr>
              <a:t>username</a:t>
            </a:r>
            <a:r>
              <a:rPr lang="en-US" sz="2800" dirty="0">
                <a:latin typeface="Tahoma" panose="020B0604030504040204" pitchFamily="34" charset="0"/>
                <a:ea typeface="Tahoma" panose="020B0604030504040204" pitchFamily="34" charset="0"/>
                <a:cs typeface="Tahoma" panose="020B0604030504040204" pitchFamily="34" charset="0"/>
              </a:rPr>
              <a:t> and </a:t>
            </a:r>
            <a:r>
              <a:rPr lang="en-US" sz="2800" dirty="0">
                <a:solidFill>
                  <a:srgbClr val="00B0F0"/>
                </a:solidFill>
                <a:latin typeface="Tahoma" panose="020B0604030504040204" pitchFamily="34" charset="0"/>
                <a:ea typeface="Tahoma" panose="020B0604030504040204" pitchFamily="34" charset="0"/>
                <a:cs typeface="Tahoma" panose="020B0604030504040204" pitchFamily="34" charset="0"/>
              </a:rPr>
              <a:t>password</a:t>
            </a:r>
            <a:r>
              <a:rPr lang="en-US" sz="2800" dirty="0">
                <a:latin typeface="Tahoma" panose="020B0604030504040204" pitchFamily="34" charset="0"/>
                <a:ea typeface="Tahoma" panose="020B0604030504040204" pitchFamily="34" charset="0"/>
                <a:cs typeface="Tahoma" panose="020B0604030504040204" pitchFamily="34" charset="0"/>
              </a:rPr>
              <a:t> in their respective fields and click the </a:t>
            </a:r>
            <a:r>
              <a:rPr lang="en-US" sz="2800" b="1" dirty="0">
                <a:latin typeface="Tahoma" panose="020B0604030504040204" pitchFamily="34" charset="0"/>
                <a:ea typeface="Tahoma" panose="020B0604030504040204" pitchFamily="34" charset="0"/>
                <a:cs typeface="Tahoma" panose="020B0604030504040204" pitchFamily="34" charset="0"/>
              </a:rPr>
              <a:t>Sign in </a:t>
            </a:r>
            <a:r>
              <a:rPr lang="en-US" sz="2800" dirty="0">
                <a:latin typeface="Tahoma" panose="020B0604030504040204" pitchFamily="34" charset="0"/>
                <a:ea typeface="Tahoma" panose="020B0604030504040204" pitchFamily="34" charset="0"/>
                <a:cs typeface="Tahoma" panose="020B0604030504040204" pitchFamily="34" charset="0"/>
              </a:rPr>
              <a:t>Button</a:t>
            </a:r>
            <a:endParaRPr lang="en-US" dirty="0"/>
          </a:p>
          <a:p>
            <a:pPr>
              <a:lnSpc>
                <a:spcPct val="200000"/>
              </a:lnSpc>
              <a:buFont typeface="Wingdings" panose="05000000000000000000" pitchFamily="2" charset="2"/>
              <a:buChar char="§"/>
            </a:pPr>
            <a:endParaRPr lang="en-US" sz="2400" dirty="0"/>
          </a:p>
        </p:txBody>
      </p:sp>
    </p:spTree>
    <p:extLst>
      <p:ext uri="{BB962C8B-B14F-4D97-AF65-F5344CB8AC3E}">
        <p14:creationId xmlns:p14="http://schemas.microsoft.com/office/powerpoint/2010/main" val="4164015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How to Access DHIS2</a:t>
            </a:r>
            <a:endParaRPr lang="en-US" dirty="0">
              <a:solidFill>
                <a:srgbClr val="00B0F0"/>
              </a:solidFill>
            </a:endParaRPr>
          </a:p>
        </p:txBody>
      </p:sp>
      <p:pic>
        <p:nvPicPr>
          <p:cNvPr id="4" name="Content Placeholder 3">
            <a:extLst>
              <a:ext uri="{FF2B5EF4-FFF2-40B4-BE49-F238E27FC236}">
                <a16:creationId xmlns:a16="http://schemas.microsoft.com/office/drawing/2014/main" id="{15F9B95A-4EF1-406C-8674-B1BC74E45E41}"/>
              </a:ext>
            </a:extLst>
          </p:cNvPr>
          <p:cNvPicPr>
            <a:picLocks noGrp="1" noChangeAspect="1"/>
          </p:cNvPicPr>
          <p:nvPr>
            <p:ph idx="1"/>
          </p:nvPr>
        </p:nvPicPr>
        <p:blipFill rotWithShape="1">
          <a:blip r:embed="rId2"/>
          <a:srcRect t="3891"/>
          <a:stretch/>
        </p:blipFill>
        <p:spPr>
          <a:xfrm>
            <a:off x="485421" y="1095022"/>
            <a:ext cx="11288889" cy="5023556"/>
          </a:xfrm>
          <a:prstGeom prst="rect">
            <a:avLst/>
          </a:prstGeom>
        </p:spPr>
      </p:pic>
    </p:spTree>
    <p:extLst>
      <p:ext uri="{BB962C8B-B14F-4D97-AF65-F5344CB8AC3E}">
        <p14:creationId xmlns:p14="http://schemas.microsoft.com/office/powerpoint/2010/main" val="3408057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DHIS2 Environment ---Dashboard</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pic>
        <p:nvPicPr>
          <p:cNvPr id="6" name="Content Placeholder 5"/>
          <p:cNvPicPr>
            <a:picLocks noGrp="1" noChangeAspect="1"/>
          </p:cNvPicPr>
          <p:nvPr>
            <p:ph idx="1"/>
          </p:nvPr>
        </p:nvPicPr>
        <p:blipFill>
          <a:blip r:embed="rId2"/>
          <a:stretch>
            <a:fillRect/>
          </a:stretch>
        </p:blipFill>
        <p:spPr>
          <a:xfrm>
            <a:off x="349956" y="991057"/>
            <a:ext cx="11695288" cy="4980765"/>
          </a:xfrm>
          <a:prstGeom prst="rect">
            <a:avLst/>
          </a:prstGeom>
        </p:spPr>
      </p:pic>
    </p:spTree>
    <p:extLst>
      <p:ext uri="{BB962C8B-B14F-4D97-AF65-F5344CB8AC3E}">
        <p14:creationId xmlns:p14="http://schemas.microsoft.com/office/powerpoint/2010/main" val="3502500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DHIS2 APP</a:t>
            </a:r>
            <a:endParaRPr lang="en-US" dirty="0">
              <a:solidFill>
                <a:srgbClr val="00B0F0"/>
              </a:solidFill>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List of DHIS2</a:t>
            </a:r>
          </a:p>
          <a:p>
            <a:pPr marL="0" indent="0">
              <a:buNone/>
            </a:pPr>
            <a:r>
              <a:rPr lang="en-US" dirty="0"/>
              <a:t>Apps.</a:t>
            </a:r>
          </a:p>
        </p:txBody>
      </p:sp>
      <p:pic>
        <p:nvPicPr>
          <p:cNvPr id="6" name="Picture 5"/>
          <p:cNvPicPr>
            <a:picLocks noChangeAspect="1"/>
          </p:cNvPicPr>
          <p:nvPr/>
        </p:nvPicPr>
        <p:blipFill>
          <a:blip r:embed="rId2"/>
          <a:stretch>
            <a:fillRect/>
          </a:stretch>
        </p:blipFill>
        <p:spPr>
          <a:xfrm>
            <a:off x="3804356" y="1174044"/>
            <a:ext cx="4289777" cy="4875919"/>
          </a:xfrm>
          <a:prstGeom prst="rect">
            <a:avLst/>
          </a:prstGeom>
        </p:spPr>
      </p:pic>
      <p:sp>
        <p:nvSpPr>
          <p:cNvPr id="7" name="Rounded Rectangle 6"/>
          <p:cNvSpPr/>
          <p:nvPr/>
        </p:nvSpPr>
        <p:spPr>
          <a:xfrm>
            <a:off x="3482621" y="1066799"/>
            <a:ext cx="4933245" cy="488244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300430" y="2574589"/>
            <a:ext cx="1704622" cy="1323439"/>
          </a:xfrm>
          <a:prstGeom prst="rect">
            <a:avLst/>
          </a:prstGeom>
          <a:noFill/>
        </p:spPr>
        <p:txBody>
          <a:bodyPr wrap="square" rtlCol="0">
            <a:spAutoFit/>
          </a:bodyPr>
          <a:lstStyle/>
          <a:p>
            <a:r>
              <a:rPr lang="en-US" sz="4000" b="1" dirty="0"/>
              <a:t>Search App</a:t>
            </a:r>
          </a:p>
        </p:txBody>
      </p:sp>
      <p:sp>
        <p:nvSpPr>
          <p:cNvPr id="9" name="Down Arrow 8"/>
          <p:cNvSpPr/>
          <p:nvPr/>
        </p:nvSpPr>
        <p:spPr>
          <a:xfrm rot="14204452">
            <a:off x="2780419" y="1040115"/>
            <a:ext cx="157001" cy="2234578"/>
          </a:xfrm>
          <a:prstGeom prst="down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0844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t>APP</a:t>
            </a:r>
            <a:endParaRPr lang="en-US" dirty="0">
              <a:solidFill>
                <a:srgbClr val="00B0F0"/>
              </a:solidFill>
            </a:endParaRPr>
          </a:p>
        </p:txBody>
      </p:sp>
      <p:sp>
        <p:nvSpPr>
          <p:cNvPr id="3" name="Content Placeholder 2"/>
          <p:cNvSpPr>
            <a:spLocks noGrp="1"/>
          </p:cNvSpPr>
          <p:nvPr>
            <p:ph idx="1"/>
          </p:nvPr>
        </p:nvSpPr>
        <p:spPr>
          <a:xfrm>
            <a:off x="112889" y="1021645"/>
            <a:ext cx="11966222" cy="5119511"/>
          </a:xfrm>
        </p:spPr>
        <p:txBody>
          <a:bodyPr/>
          <a:lstStyle/>
          <a:p>
            <a:pPr marL="0" indent="0">
              <a:buNone/>
            </a:pPr>
            <a:r>
              <a:rPr lang="en-US" sz="2800" b="1" dirty="0">
                <a:solidFill>
                  <a:srgbClr val="00B0F0"/>
                </a:solidFill>
              </a:rPr>
              <a:t>What do you want?</a:t>
            </a:r>
          </a:p>
          <a:p>
            <a:pPr marL="0" indent="0">
              <a:lnSpc>
                <a:spcPct val="200000"/>
              </a:lnSpc>
              <a:buNone/>
            </a:pPr>
            <a:r>
              <a:rPr lang="en-US" sz="2400" dirty="0"/>
              <a:t>1</a:t>
            </a:r>
            <a:r>
              <a:rPr lang="en-US" sz="2400" b="1" dirty="0">
                <a:latin typeface="Tahoma" panose="020B0604030504040204" pitchFamily="34" charset="0"/>
                <a:ea typeface="Tahoma" panose="020B0604030504040204" pitchFamily="34" charset="0"/>
                <a:cs typeface="Tahoma" panose="020B0604030504040204" pitchFamily="34" charset="0"/>
              </a:rPr>
              <a:t>. Enter data</a:t>
            </a:r>
            <a:r>
              <a:rPr lang="en-US" sz="2400" dirty="0">
                <a:latin typeface="Tahoma" panose="020B0604030504040204" pitchFamily="34" charset="0"/>
                <a:ea typeface="Tahoma" panose="020B0604030504040204" pitchFamily="34" charset="0"/>
                <a:cs typeface="Tahoma" panose="020B0604030504040204" pitchFamily="34" charset="0"/>
              </a:rPr>
              <a:t>: aggregate data, event with and without registration.</a:t>
            </a:r>
          </a:p>
          <a:p>
            <a:pPr lvl="1">
              <a:lnSpc>
                <a:spcPct val="200000"/>
              </a:lnSpc>
              <a:buFont typeface="Wingdings" panose="05000000000000000000" pitchFamily="2" charset="2"/>
              <a:buChar char="§"/>
            </a:pPr>
            <a:r>
              <a:rPr lang="en-US" sz="2000" b="1" dirty="0">
                <a:latin typeface="Tahoma" panose="020B0604030504040204" pitchFamily="34" charset="0"/>
                <a:ea typeface="Tahoma" panose="020B0604030504040204" pitchFamily="34" charset="0"/>
                <a:cs typeface="Tahoma" panose="020B0604030504040204" pitchFamily="34" charset="0"/>
              </a:rPr>
              <a:t>Use</a:t>
            </a:r>
            <a:r>
              <a:rPr lang="en-US" sz="2000" dirty="0">
                <a:latin typeface="Tahoma" panose="020B0604030504040204" pitchFamily="34" charset="0"/>
                <a:ea typeface="Tahoma" panose="020B0604030504040204" pitchFamily="34" charset="0"/>
                <a:cs typeface="Tahoma" panose="020B0604030504040204" pitchFamily="34" charset="0"/>
              </a:rPr>
              <a:t>: data entry app, capture app.</a:t>
            </a:r>
          </a:p>
          <a:p>
            <a:pPr marL="0" indent="0">
              <a:lnSpc>
                <a:spcPct val="200000"/>
              </a:lnSpc>
              <a:buNone/>
            </a:pPr>
            <a:r>
              <a:rPr lang="en-US" sz="2400" dirty="0">
                <a:latin typeface="Tahoma" panose="020B0604030504040204" pitchFamily="34" charset="0"/>
                <a:ea typeface="Tahoma" panose="020B0604030504040204" pitchFamily="34" charset="0"/>
                <a:cs typeface="Tahoma" panose="020B0604030504040204" pitchFamily="34" charset="0"/>
              </a:rPr>
              <a:t>2. </a:t>
            </a:r>
            <a:r>
              <a:rPr lang="en-US" sz="2400" b="1" dirty="0">
                <a:latin typeface="Tahoma" panose="020B0604030504040204" pitchFamily="34" charset="0"/>
                <a:ea typeface="Tahoma" panose="020B0604030504040204" pitchFamily="34" charset="0"/>
                <a:cs typeface="Tahoma" panose="020B0604030504040204" pitchFamily="34" charset="0"/>
              </a:rPr>
              <a:t>Analyze data</a:t>
            </a:r>
            <a:r>
              <a:rPr lang="en-US" sz="2400" dirty="0">
                <a:latin typeface="Tahoma" panose="020B0604030504040204" pitchFamily="34" charset="0"/>
                <a:ea typeface="Tahoma" panose="020B0604030504040204" pitchFamily="34" charset="0"/>
                <a:cs typeface="Tahoma" panose="020B0604030504040204" pitchFamily="34" charset="0"/>
              </a:rPr>
              <a:t>: use table, chart, map, dashboard</a:t>
            </a:r>
          </a:p>
          <a:p>
            <a:pPr lvl="1">
              <a:lnSpc>
                <a:spcPct val="200000"/>
              </a:lnSpc>
              <a:buFont typeface="Wingdings" panose="05000000000000000000" pitchFamily="2" charset="2"/>
              <a:buChar char="§"/>
            </a:pPr>
            <a:r>
              <a:rPr lang="en-US" sz="2000" b="1" dirty="0">
                <a:latin typeface="Tahoma" panose="020B0604030504040204" pitchFamily="34" charset="0"/>
                <a:ea typeface="Tahoma" panose="020B0604030504040204" pitchFamily="34" charset="0"/>
                <a:cs typeface="Tahoma" panose="020B0604030504040204" pitchFamily="34" charset="0"/>
              </a:rPr>
              <a:t>Use</a:t>
            </a:r>
            <a:r>
              <a:rPr lang="en-US" sz="2000" dirty="0">
                <a:latin typeface="Tahoma" panose="020B0604030504040204" pitchFamily="34" charset="0"/>
                <a:ea typeface="Tahoma" panose="020B0604030504040204" pitchFamily="34" charset="0"/>
                <a:cs typeface="Tahoma" panose="020B0604030504040204" pitchFamily="34" charset="0"/>
              </a:rPr>
              <a:t>: pivot table, data visualizer, map, </a:t>
            </a:r>
          </a:p>
          <a:p>
            <a:pPr marL="0" indent="0">
              <a:lnSpc>
                <a:spcPct val="200000"/>
              </a:lnSpc>
              <a:buNone/>
            </a:pPr>
            <a:r>
              <a:rPr lang="en-US" sz="2400" dirty="0">
                <a:latin typeface="Tahoma" panose="020B0604030504040204" pitchFamily="34" charset="0"/>
                <a:ea typeface="Tahoma" panose="020B0604030504040204" pitchFamily="34" charset="0"/>
                <a:cs typeface="Tahoma" panose="020B0604030504040204" pitchFamily="34" charset="0"/>
              </a:rPr>
              <a:t>3. </a:t>
            </a:r>
            <a:r>
              <a:rPr lang="en-US" sz="2400" b="1" dirty="0">
                <a:latin typeface="Tahoma" panose="020B0604030504040204" pitchFamily="34" charset="0"/>
                <a:ea typeface="Tahoma" panose="020B0604030504040204" pitchFamily="34" charset="0"/>
                <a:cs typeface="Tahoma" panose="020B0604030504040204" pitchFamily="34" charset="0"/>
              </a:rPr>
              <a:t>Control data quality</a:t>
            </a:r>
            <a:r>
              <a:rPr lang="en-US" sz="2400" dirty="0">
                <a:latin typeface="Tahoma" panose="020B0604030504040204" pitchFamily="34" charset="0"/>
                <a:ea typeface="Tahoma" panose="020B0604030504040204" pitchFamily="34" charset="0"/>
                <a:cs typeface="Tahoma" panose="020B0604030504040204" pitchFamily="34" charset="0"/>
              </a:rPr>
              <a:t>: data quality </a:t>
            </a:r>
          </a:p>
          <a:p>
            <a:pPr marL="0" indent="0">
              <a:lnSpc>
                <a:spcPct val="150000"/>
              </a:lnSpc>
              <a:buNone/>
            </a:pPr>
            <a:endParaRPr lang="en-US" sz="2400" dirty="0"/>
          </a:p>
        </p:txBody>
      </p:sp>
    </p:spTree>
    <p:extLst>
      <p:ext uri="{BB962C8B-B14F-4D97-AF65-F5344CB8AC3E}">
        <p14:creationId xmlns:p14="http://schemas.microsoft.com/office/powerpoint/2010/main" val="3688235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889" y="1021645"/>
            <a:ext cx="11966222" cy="5119511"/>
          </a:xfrm>
        </p:spPr>
        <p:txBody>
          <a:bodyPr/>
          <a:lstStyle/>
          <a:p>
            <a:pPr marL="0" indent="0">
              <a:buNone/>
            </a:pPr>
            <a:r>
              <a:rPr lang="en-US" sz="2800" b="1" dirty="0">
                <a:solidFill>
                  <a:srgbClr val="00B0F0"/>
                </a:solidFill>
              </a:rPr>
              <a:t>What do you want?</a:t>
            </a:r>
          </a:p>
          <a:p>
            <a:pPr marL="0" indent="0" algn="just">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4. </a:t>
            </a:r>
            <a:r>
              <a:rPr lang="en-US" sz="2400" b="1" dirty="0">
                <a:latin typeface="Tahoma" panose="020B0604030504040204" pitchFamily="34" charset="0"/>
                <a:ea typeface="Tahoma" panose="020B0604030504040204" pitchFamily="34" charset="0"/>
                <a:cs typeface="Tahoma" panose="020B0604030504040204" pitchFamily="34" charset="0"/>
              </a:rPr>
              <a:t>Manage users and authorities</a:t>
            </a:r>
            <a:r>
              <a:rPr lang="en-US" sz="2400" dirty="0">
                <a:latin typeface="Tahoma" panose="020B0604030504040204" pitchFamily="34" charset="0"/>
                <a:ea typeface="Tahoma" panose="020B0604030504040204" pitchFamily="34" charset="0"/>
                <a:cs typeface="Tahoma" panose="020B0604030504040204" pitchFamily="34" charset="0"/>
              </a:rPr>
              <a:t>: Create or edit users, user roles or user groups.</a:t>
            </a:r>
          </a:p>
          <a:p>
            <a:pPr lvl="1" algn="just">
              <a:lnSpc>
                <a:spcPct val="150000"/>
              </a:lnSpc>
              <a:buFont typeface="Wingdings" panose="05000000000000000000" pitchFamily="2" charset="2"/>
              <a:buChar char="§"/>
            </a:pPr>
            <a:r>
              <a:rPr lang="en-US" sz="2400" b="1" dirty="0">
                <a:latin typeface="Tahoma" panose="020B0604030504040204" pitchFamily="34" charset="0"/>
                <a:ea typeface="Tahoma" panose="020B0604030504040204" pitchFamily="34" charset="0"/>
                <a:cs typeface="Tahoma" panose="020B0604030504040204" pitchFamily="34" charset="0"/>
              </a:rPr>
              <a:t>Use: </a:t>
            </a:r>
            <a:r>
              <a:rPr lang="en-US" sz="2400" dirty="0">
                <a:latin typeface="Tahoma" panose="020B0604030504040204" pitchFamily="34" charset="0"/>
                <a:ea typeface="Tahoma" panose="020B0604030504040204" pitchFamily="34" charset="0"/>
                <a:cs typeface="Tahoma" panose="020B0604030504040204" pitchFamily="34" charset="0"/>
              </a:rPr>
              <a:t>user app</a:t>
            </a:r>
          </a:p>
          <a:p>
            <a:pPr marL="0" indent="0" algn="just">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5. </a:t>
            </a:r>
            <a:r>
              <a:rPr lang="en-US" sz="2400" b="1" dirty="0">
                <a:latin typeface="Tahoma" panose="020B0604030504040204" pitchFamily="34" charset="0"/>
                <a:ea typeface="Tahoma" panose="020B0604030504040204" pitchFamily="34" charset="0"/>
                <a:cs typeface="Tahoma" panose="020B0604030504040204" pitchFamily="34" charset="0"/>
              </a:rPr>
              <a:t>Configure metadata</a:t>
            </a:r>
            <a:r>
              <a:rPr lang="en-US" sz="2400" dirty="0">
                <a:latin typeface="Tahoma" panose="020B0604030504040204" pitchFamily="34" charset="0"/>
                <a:ea typeface="Tahoma" panose="020B0604030504040204" pitchFamily="34" charset="0"/>
                <a:cs typeface="Tahoma" panose="020B0604030504040204" pitchFamily="34" charset="0"/>
              </a:rPr>
              <a:t>: Create metadata, for example organization units and data elements.</a:t>
            </a:r>
          </a:p>
          <a:p>
            <a:pPr lvl="1" algn="just">
              <a:lnSpc>
                <a:spcPct val="150000"/>
              </a:lnSpc>
              <a:buFont typeface="Wingdings" panose="05000000000000000000" pitchFamily="2" charset="2"/>
              <a:buChar char="§"/>
            </a:pPr>
            <a:r>
              <a:rPr lang="en-US" sz="2400" b="1" dirty="0">
                <a:latin typeface="Tahoma" panose="020B0604030504040204" pitchFamily="34" charset="0"/>
                <a:ea typeface="Tahoma" panose="020B0604030504040204" pitchFamily="34" charset="0"/>
                <a:cs typeface="Tahoma" panose="020B0604030504040204" pitchFamily="34" charset="0"/>
              </a:rPr>
              <a:t>Use</a:t>
            </a:r>
            <a:r>
              <a:rPr lang="en-US" sz="2400" dirty="0">
                <a:latin typeface="Tahoma" panose="020B0604030504040204" pitchFamily="34" charset="0"/>
                <a:ea typeface="Tahoma" panose="020B0604030504040204" pitchFamily="34" charset="0"/>
                <a:cs typeface="Tahoma" panose="020B0604030504040204" pitchFamily="34" charset="0"/>
              </a:rPr>
              <a:t>: maintenance app</a:t>
            </a:r>
          </a:p>
          <a:p>
            <a:pPr marL="0" indent="0">
              <a:buNone/>
            </a:pPr>
            <a:endParaRPr lang="en-US" sz="2400" dirty="0"/>
          </a:p>
        </p:txBody>
      </p:sp>
    </p:spTree>
    <p:extLst>
      <p:ext uri="{BB962C8B-B14F-4D97-AF65-F5344CB8AC3E}">
        <p14:creationId xmlns:p14="http://schemas.microsoft.com/office/powerpoint/2010/main" val="3364661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DHIS2 Environment …</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889" y="1021645"/>
            <a:ext cx="11966222" cy="5119511"/>
          </a:xfrm>
        </p:spPr>
        <p:txBody>
          <a:bodyPr/>
          <a:lstStyle/>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DHIS 2 provides functionality to exchange messages within and outside the system as feedback mechanism</a:t>
            </a:r>
          </a:p>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Messages can be written </a:t>
            </a:r>
            <a:r>
              <a:rPr lang="en-US" sz="2400" b="1" dirty="0">
                <a:latin typeface="Tahoma" panose="020B0604030504040204" pitchFamily="34" charset="0"/>
                <a:ea typeface="Tahoma" panose="020B0604030504040204" pitchFamily="34" charset="0"/>
                <a:cs typeface="Tahoma" panose="020B0604030504040204" pitchFamily="34" charset="0"/>
              </a:rPr>
              <a:t>to specific users </a:t>
            </a:r>
            <a:r>
              <a:rPr lang="en-US" sz="2400" dirty="0">
                <a:latin typeface="Tahoma" panose="020B0604030504040204" pitchFamily="34" charset="0"/>
                <a:ea typeface="Tahoma" panose="020B0604030504040204" pitchFamily="34" charset="0"/>
                <a:cs typeface="Tahoma" panose="020B0604030504040204" pitchFamily="34" charset="0"/>
              </a:rPr>
              <a:t>within the system.</a:t>
            </a:r>
          </a:p>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They can also be sent to their e-mail address provided along with their profile</a:t>
            </a:r>
          </a:p>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It also provides a platform to send SMS to individual users</a:t>
            </a:r>
          </a:p>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Users who have privileges to access the dashboard can send messages to a user or a group of users feedbacks and interpretations</a:t>
            </a:r>
          </a:p>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 messages users receive within the system appear at the dashboard.</a:t>
            </a:r>
          </a:p>
          <a:p>
            <a:pPr marL="0" indent="0">
              <a:buNone/>
            </a:pPr>
            <a:endParaRPr lang="en-US" sz="2400" dirty="0"/>
          </a:p>
        </p:txBody>
      </p:sp>
    </p:spTree>
    <p:extLst>
      <p:ext uri="{BB962C8B-B14F-4D97-AF65-F5344CB8AC3E}">
        <p14:creationId xmlns:p14="http://schemas.microsoft.com/office/powerpoint/2010/main" val="161875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ABBD4D-B6E3-B4CB-508D-35E4BB059C4F}"/>
              </a:ext>
            </a:extLst>
          </p:cNvPr>
          <p:cNvSpPr>
            <a:spLocks noGrp="1"/>
          </p:cNvSpPr>
          <p:nvPr>
            <p:ph idx="1"/>
          </p:nvPr>
        </p:nvSpPr>
        <p:spPr>
          <a:xfrm rot="-660000">
            <a:off x="609600" y="1066800"/>
            <a:ext cx="10972800" cy="2838307"/>
          </a:xfrm>
        </p:spPr>
        <p:txBody>
          <a:bodyPr/>
          <a:lstStyle/>
          <a:p>
            <a:pPr marL="0" indent="0" algn="ctr">
              <a:buNone/>
            </a:pPr>
            <a:endParaRPr lang="en-US" sz="3600" b="1" dirty="0">
              <a:latin typeface="Tahoma" panose="020B0604030504040204" pitchFamily="34" charset="0"/>
              <a:ea typeface="Tahoma" panose="020B0604030504040204" pitchFamily="34" charset="0"/>
              <a:cs typeface="Tahoma" panose="020B0604030504040204" pitchFamily="34" charset="0"/>
            </a:endParaRPr>
          </a:p>
          <a:p>
            <a:pPr marL="0" indent="0" algn="ctr">
              <a:buNone/>
            </a:pPr>
            <a:endParaRPr lang="en-US" sz="3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ahoma" panose="020B0604030504040204" pitchFamily="34" charset="0"/>
              <a:ea typeface="Tahoma" panose="020B0604030504040204" pitchFamily="34" charset="0"/>
              <a:cs typeface="Tahoma" panose="020B0604030504040204" pitchFamily="34" charset="0"/>
            </a:endParaRPr>
          </a:p>
          <a:p>
            <a:pPr marL="0" indent="0" algn="ctr">
              <a:buNone/>
            </a:pPr>
            <a:r>
              <a:rPr lang="en-US" sz="3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ahoma" panose="020B0604030504040204" pitchFamily="34" charset="0"/>
                <a:ea typeface="Tahoma" panose="020B0604030504040204" pitchFamily="34" charset="0"/>
                <a:cs typeface="Tahoma" panose="020B0604030504040204" pitchFamily="34" charset="0"/>
              </a:rPr>
              <a:t>Thank you!</a:t>
            </a:r>
          </a:p>
        </p:txBody>
      </p:sp>
    </p:spTree>
    <p:extLst>
      <p:ext uri="{BB962C8B-B14F-4D97-AF65-F5344CB8AC3E}">
        <p14:creationId xmlns:p14="http://schemas.microsoft.com/office/powerpoint/2010/main" val="3264877674"/>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8670</TotalTime>
  <Words>1190</Words>
  <Application>Microsoft Office PowerPoint</Application>
  <PresentationFormat>Widescreen</PresentationFormat>
  <Paragraphs>125</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Courier New</vt:lpstr>
      <vt:lpstr>Tahoma</vt:lpstr>
      <vt:lpstr>Times New Roman</vt:lpstr>
      <vt:lpstr>Wingdings</vt:lpstr>
      <vt:lpstr>Theme1</vt:lpstr>
      <vt:lpstr>PowerPoint Presentation</vt:lpstr>
      <vt:lpstr>Outline</vt:lpstr>
      <vt:lpstr>Background</vt:lpstr>
      <vt:lpstr>Introduction</vt:lpstr>
      <vt:lpstr>Introduction</vt:lpstr>
      <vt:lpstr>Introduction</vt:lpstr>
      <vt:lpstr>Use of DHIS2 in HIS</vt:lpstr>
      <vt:lpstr>Technical Specification</vt:lpstr>
      <vt:lpstr>History of DHIS 2</vt:lpstr>
      <vt:lpstr>History of DHIS 2</vt:lpstr>
      <vt:lpstr>The Basics: What is DHIS2? … </vt:lpstr>
      <vt:lpstr>The Building Blocks</vt:lpstr>
      <vt:lpstr>Data Dimensions in DHIS2</vt:lpstr>
      <vt:lpstr>Data Dimensions in DHIS2</vt:lpstr>
      <vt:lpstr>The WHERE: Organization units</vt:lpstr>
      <vt:lpstr>The WHEN: Periods</vt:lpstr>
      <vt:lpstr>The WHEN: Relative Periods …</vt:lpstr>
      <vt:lpstr>The WHEN: Fixed Periods …</vt:lpstr>
      <vt:lpstr>The WHAT: Data Elements</vt:lpstr>
      <vt:lpstr>PowerPoint Presentation</vt:lpstr>
      <vt:lpstr>Indicator</vt:lpstr>
      <vt:lpstr>Indicator</vt:lpstr>
      <vt:lpstr>PowerPoint Presentation</vt:lpstr>
      <vt:lpstr>How to Access DHIS2</vt:lpstr>
      <vt:lpstr>How to Access DHIS2</vt:lpstr>
      <vt:lpstr>DHIS2 Environment ---Dashboard</vt:lpstr>
      <vt:lpstr>DHIS2 APP</vt:lpstr>
      <vt:lpstr>APP</vt:lpstr>
      <vt:lpstr>APP</vt:lpstr>
      <vt:lpstr>DHIS2 Environment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Adisu Daba</dc:creator>
  <cp:lastModifiedBy>zemene worku</cp:lastModifiedBy>
  <cp:revision>294</cp:revision>
  <dcterms:created xsi:type="dcterms:W3CDTF">2018-11-12T20:36:00Z</dcterms:created>
  <dcterms:modified xsi:type="dcterms:W3CDTF">2025-03-11T08:19:27Z</dcterms:modified>
</cp:coreProperties>
</file>